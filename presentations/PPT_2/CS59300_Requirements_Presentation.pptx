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we test whether flood models trained on the old radar satellite still work on NASA’s new one. This deck covers the papers we read, the two closest to us, how long each piece of work takes, and who does what by midterm.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phases. Train a flood model on the Sentinel-1 benchmark, run it untouched on real NISAR data, then fine-tune with small labelled sets. Two deliverable numbers: the size of the gap, and the label cost to close it. Study region is the central Amazon floodplain near Manaus.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papers. The benchmark we train on; L-band flood mapping on a different satellite; cross-band transfer for a different task; and the state of the art, which names NISAR as a future beneficiary without ever testing it. Also worth citing: a separate 2026 paper, "DeepSAR Flood Mapper", which uses HAND data close to our label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Sen1Floods11 gives us labelled training data and a published baseline. Its blind spot is that every chip is C-band VV/VH, so nothing in the paper tells us whether the model learned water or learned C-band. That is exactly what we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here. DeepSARFlood does not say cross-band transfer is unvalidated — it assumes it and moves on. That is a stronger framing than "they named our gap", and it survives someone reading the paper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water is a mirror — the pulse bounces away and water looks dark. Water under trees does the opposite: the pulse hits the water then a trunk, like a bank shot in pool, and comes back strong. Only the long L-band waves get through the canopy to do this. So the gap should concentrate in flooded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scope the reproduction to the hand-labelled split only — reproducing all four of their models is three to four times the work for no extra insight. Compute is trivial; the risk is entirely in data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weeks, four people, six to eight hours a week each gives roughly 260 to 300 hours. Our estimate is 200 to 275, so it fits with little slack. The riskiest package by far is the NISAR data pipeline, so it starts first and goes to the most experienced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owners, four workstreams. Varun takes the NISAR pipeline because it is the highest-risk package. Pushan runs the model track, Nidhi the labels, Yashada the ground truth and evaluation. Labelling is shared because inter-annotator agreement needs more than one person. By midterm we aim to have the zero-shot number on at least one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honest risks, each with a mitigation already decided. The one to emphasise is the polarization confound — we turned it from a weakness into research question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 line: whatever we measure is a first measurement.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57"/>
        </a:solidFill>
      </p:bgPr>
    </p:bg>
    <p:spTree>
      <p:nvGrpSpPr>
        <p:cNvPr id="1" name=""/>
        <p:cNvGrpSpPr/>
        <p:nvPr/>
      </p:nvGrpSpPr>
      <p:grpSpPr>
        <a:xfrm>
          <a:off x="0" y="0"/>
          <a:ext cx="0" cy="0"/>
          <a:chOff x="0" y="0"/>
          <a:chExt cx="0" cy="0"/>
        </a:xfrm>
      </p:grpSpPr>
      <p:pic>
        <p:nvPicPr>
          <p:cNvPr id="2" name="Image 0" descr="/home/claude/assets/river.jpeg">    </p:cNvPr>
          <p:cNvPicPr>
            <a:picLocks noChangeAspect="1"/>
          </p:cNvPicPr>
          <p:nvPr/>
        </p:nvPicPr>
        <p:blipFill>
          <a:blip r:embed="rId1"/>
          <a:srcRect l="0" r="0" t="0" b="0"/>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0F3B57">
              <a:alpha val="70000"/>
            </a:srgbClr>
          </a:solidFill>
          <a:ln/>
        </p:spPr>
      </p:sp>
      <p:sp>
        <p:nvSpPr>
          <p:cNvPr id="4" name="Text 1"/>
          <p:cNvSpPr txBox="1"/>
          <p:nvPr/>
        </p:nvSpPr>
        <p:spPr>
          <a:xfrm>
            <a:off x="731520" y="1417320"/>
            <a:ext cx="10698480" cy="109728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Does a Sentinel-1 flood model work on NISAR?</a:t>
            </a:r>
            <a:endParaRPr lang="en-US" sz="4000" dirty="0"/>
          </a:p>
        </p:txBody>
      </p:sp>
      <p:sp>
        <p:nvSpPr>
          <p:cNvPr id="5" name="Text 2"/>
          <p:cNvSpPr txBox="1"/>
          <p:nvPr/>
        </p:nvSpPr>
        <p:spPr>
          <a:xfrm>
            <a:off x="731520" y="2560320"/>
            <a:ext cx="10698480" cy="365760"/>
          </a:xfrm>
          <a:prstGeom prst="rect">
            <a:avLst/>
          </a:prstGeom>
          <a:noFill/>
          <a:ln/>
        </p:spPr>
        <p:txBody>
          <a:bodyPr wrap="square" rtlCol="0" anchor="ctr"/>
          <a:lstStyle/>
          <a:p>
            <a:pPr indent="0" marL="0">
              <a:buNone/>
            </a:pPr>
            <a:r>
              <a:rPr lang="en-US" sz="1800" dirty="0">
                <a:solidFill>
                  <a:srgbClr val="BFD6E2"/>
                </a:solidFill>
                <a:latin typeface="Calibri" pitchFamily="34" charset="0"/>
                <a:ea typeface="Calibri" pitchFamily="34" charset="-122"/>
                <a:cs typeface="Calibri" pitchFamily="34" charset="-120"/>
              </a:rPr>
              <a:t>Requirements Presentation  ·  CS 59300-02  ·  Dr. Zesheng Chen</a:t>
            </a:r>
            <a:endParaRPr lang="en-US" sz="1800" dirty="0"/>
          </a:p>
        </p:txBody>
      </p:sp>
      <p:sp>
        <p:nvSpPr>
          <p:cNvPr id="6" name="Shape 3"/>
          <p:cNvSpPr/>
          <p:nvPr/>
        </p:nvSpPr>
        <p:spPr>
          <a:xfrm>
            <a:off x="749808" y="3200400"/>
            <a:ext cx="1463040" cy="45720"/>
          </a:xfrm>
          <a:prstGeom prst="rect">
            <a:avLst/>
          </a:prstGeom>
          <a:solidFill>
            <a:srgbClr val="E0912F"/>
          </a:solidFill>
          <a:ln/>
        </p:spPr>
      </p:sp>
      <p:sp>
        <p:nvSpPr>
          <p:cNvPr id="7" name="Text 4"/>
          <p:cNvSpPr txBox="1"/>
          <p:nvPr/>
        </p:nvSpPr>
        <p:spPr>
          <a:xfrm>
            <a:off x="731520" y="3566160"/>
            <a:ext cx="10698480" cy="3657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Varun Teja Chundru   ·   Nidhi Musale   ·   Yashada Ajit Tembe   ·   Pushan Verma</a:t>
            </a:r>
            <a:endParaRPr lang="en-US" sz="1500" dirty="0"/>
          </a:p>
        </p:txBody>
      </p:sp>
      <p:sp>
        <p:nvSpPr>
          <p:cNvPr id="8" name="Text 5"/>
          <p:cNvSpPr txBox="1"/>
          <p:nvPr/>
        </p:nvSpPr>
        <p:spPr>
          <a:xfrm>
            <a:off x="731520" y="4114800"/>
            <a:ext cx="10698480" cy="365760"/>
          </a:xfrm>
          <a:prstGeom prst="rect">
            <a:avLst/>
          </a:prstGeom>
          <a:noFill/>
          <a:ln/>
        </p:spPr>
        <p:txBody>
          <a:bodyPr wrap="square" rtlCol="0" anchor="ctr"/>
          <a:lstStyle/>
          <a:p>
            <a:pPr indent="0" marL="0">
              <a:buNone/>
            </a:pPr>
            <a:r>
              <a:rPr lang="en-US" sz="1400" i="1" dirty="0">
                <a:solidFill>
                  <a:srgbClr val="BFD6E2"/>
                </a:solidFill>
                <a:latin typeface="Calibri" pitchFamily="34" charset="0"/>
                <a:ea typeface="Calibri" pitchFamily="34" charset="-122"/>
                <a:cs typeface="Calibri" pitchFamily="34" charset="-120"/>
              </a:rPr>
              <a:t>Literature survey  ·  Most relevant work  ·  Effort estimates  ·  Tasks and owners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94360"/>
          </a:xfrm>
          <a:prstGeom prst="rect">
            <a:avLst/>
          </a:prstGeom>
          <a:noFill/>
          <a:ln/>
        </p:spPr>
        <p:txBody>
          <a:bodyPr wrap="square" rtlCol="0" anchor="ctr"/>
          <a:lstStyle/>
          <a:p>
            <a:pPr indent="0" marL="0">
              <a:buNone/>
            </a:pPr>
            <a:r>
              <a:rPr lang="en-US" sz="3000" b="1" dirty="0">
                <a:solidFill>
                  <a:srgbClr val="0F3B57"/>
                </a:solidFill>
                <a:latin typeface="Cambria" pitchFamily="34" charset="0"/>
                <a:ea typeface="Cambria" pitchFamily="34" charset="-122"/>
                <a:cs typeface="Cambria" pitchFamily="34" charset="-120"/>
              </a:rPr>
              <a:t>The study in one picture</a:t>
            </a:r>
            <a:endParaRPr lang="en-US" sz="3000" dirty="0"/>
          </a:p>
        </p:txBody>
      </p:sp>
      <p:sp>
        <p:nvSpPr>
          <p:cNvPr id="3" name="Text 1"/>
          <p:cNvSpPr txBox="1"/>
          <p:nvPr/>
        </p:nvSpPr>
        <p:spPr>
          <a:xfrm>
            <a:off x="566928" y="914400"/>
            <a:ext cx="11064240" cy="347472"/>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Train on the old satellite · test on the new one · measure what it costs to fix</a:t>
            </a:r>
            <a:endParaRPr lang="en-US" sz="1500" dirty="0"/>
          </a:p>
        </p:txBody>
      </p:sp>
      <p:sp>
        <p:nvSpPr>
          <p:cNvPr id="4" name="Shape 2"/>
          <p:cNvSpPr/>
          <p:nvPr/>
        </p:nvSpPr>
        <p:spPr>
          <a:xfrm>
            <a:off x="822960" y="1600200"/>
            <a:ext cx="3200400" cy="2286000"/>
          </a:xfrm>
          <a:prstGeom prst="roundRect">
            <a:avLst>
              <a:gd name="adj" fmla="val 3200"/>
            </a:avLst>
          </a:prstGeom>
          <a:solidFill>
            <a:srgbClr val="FFFFFF"/>
          </a:solidFill>
          <a:ln w="12700">
            <a:solidFill>
              <a:srgbClr val="1C7293"/>
            </a:solidFill>
            <a:prstDash val="solid"/>
          </a:ln>
        </p:spPr>
      </p:sp>
      <p:sp>
        <p:nvSpPr>
          <p:cNvPr id="5" name="Shape 3"/>
          <p:cNvSpPr/>
          <p:nvPr/>
        </p:nvSpPr>
        <p:spPr>
          <a:xfrm>
            <a:off x="1051560" y="1810512"/>
            <a:ext cx="502920" cy="502920"/>
          </a:xfrm>
          <a:prstGeom prst="ellipse">
            <a:avLst/>
          </a:prstGeom>
          <a:solidFill>
            <a:srgbClr val="1C7293"/>
          </a:solidFill>
          <a:ln/>
        </p:spPr>
      </p:sp>
      <p:sp>
        <p:nvSpPr>
          <p:cNvPr id="6" name="Text 4"/>
          <p:cNvSpPr txBox="1"/>
          <p:nvPr/>
        </p:nvSpPr>
        <p:spPr>
          <a:xfrm>
            <a:off x="1051560" y="18105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691640" y="1847088"/>
            <a:ext cx="2103120" cy="411480"/>
          </a:xfrm>
          <a:prstGeom prst="rect">
            <a:avLst/>
          </a:prstGeom>
          <a:noFill/>
          <a:ln/>
        </p:spPr>
        <p:txBody>
          <a:bodyPr wrap="square" lIns="0" tIns="0" rIns="0" bIns="0" rtlCol="0" anchor="ctr"/>
          <a:lstStyle/>
          <a:p>
            <a:pPr indent="0" marL="0">
              <a:buNone/>
            </a:pPr>
            <a:r>
              <a:rPr lang="en-US" sz="2000" b="1" dirty="0">
                <a:solidFill>
                  <a:srgbClr val="1C7293"/>
                </a:solidFill>
                <a:latin typeface="Cambria" pitchFamily="34" charset="0"/>
                <a:ea typeface="Cambria" pitchFamily="34" charset="-122"/>
                <a:cs typeface="Cambria" pitchFamily="34" charset="-120"/>
              </a:rPr>
              <a:t>TRAIN</a:t>
            </a:r>
            <a:endParaRPr lang="en-US" sz="2000" dirty="0"/>
          </a:p>
        </p:txBody>
      </p:sp>
      <p:sp>
        <p:nvSpPr>
          <p:cNvPr id="8" name="Text 6"/>
          <p:cNvSpPr txBox="1"/>
          <p:nvPr/>
        </p:nvSpPr>
        <p:spPr>
          <a:xfrm>
            <a:off x="1078992" y="2514600"/>
            <a:ext cx="2743200" cy="1188720"/>
          </a:xfrm>
          <a:prstGeom prst="rect">
            <a:avLst/>
          </a:prstGeom>
          <a:noFill/>
          <a:ln/>
        </p:spPr>
        <p:txBody>
          <a:bodyPr wrap="square" lIns="0" tIns="0" rIns="0" bIns="0" rtlCol="0" anchor="ctr"/>
          <a:lstStyle/>
          <a:p>
            <a:pPr indent="0" marL="0">
              <a:lnSpc>
                <a:spcPts val="2000"/>
              </a:lnSpc>
              <a:buNone/>
            </a:pPr>
            <a:r>
              <a:rPr lang="en-US" sz="1400" dirty="0">
                <a:solidFill>
                  <a:srgbClr val="15242C"/>
                </a:solidFill>
                <a:latin typeface="Calibri" pitchFamily="34" charset="0"/>
                <a:ea typeface="Calibri" pitchFamily="34" charset="-122"/>
                <a:cs typeface="Calibri" pitchFamily="34" charset="-120"/>
              </a:rPr>
              <a:t>Flood model on</a:t>
            </a:r>
            <a:endParaRPr lang="en-US" sz="1400" dirty="0"/>
          </a:p>
          <a:p>
            <a:pPr indent="0" marL="0">
              <a:lnSpc>
                <a:spcPts val="2000"/>
              </a:lnSpc>
              <a:buNone/>
            </a:pPr>
            <a:r>
              <a:rPr lang="en-US" sz="1400" dirty="0">
                <a:solidFill>
                  <a:srgbClr val="15242C"/>
                </a:solidFill>
                <a:latin typeface="Calibri" pitchFamily="34" charset="0"/>
                <a:ea typeface="Calibri" pitchFamily="34" charset="-122"/>
                <a:cs typeface="Calibri" pitchFamily="34" charset="-120"/>
              </a:rPr>
              <a:t>Sentinel-1 (C-band)</a:t>
            </a:r>
            <a:endParaRPr lang="en-US" sz="1400" dirty="0"/>
          </a:p>
          <a:p>
            <a:pPr indent="0" marL="0">
              <a:lnSpc>
                <a:spcPts val="2000"/>
              </a:lnSpc>
              <a:buNone/>
            </a:pPr>
            <a:r>
              <a:rPr lang="en-US" sz="1400" dirty="0">
                <a:solidFill>
                  <a:srgbClr val="15242C"/>
                </a:solidFill>
                <a:latin typeface="Calibri" pitchFamily="34" charset="0"/>
                <a:ea typeface="Calibri" pitchFamily="34" charset="-122"/>
                <a:cs typeface="Calibri" pitchFamily="34" charset="-120"/>
              </a:rPr>
              <a:t>Sen1Floods11</a:t>
            </a:r>
            <a:endParaRPr lang="en-US" sz="1400" dirty="0"/>
          </a:p>
        </p:txBody>
      </p:sp>
      <p:sp>
        <p:nvSpPr>
          <p:cNvPr id="9" name="Shape 7"/>
          <p:cNvSpPr/>
          <p:nvPr/>
        </p:nvSpPr>
        <p:spPr>
          <a:xfrm>
            <a:off x="4133088" y="2514600"/>
            <a:ext cx="411480" cy="320040"/>
          </a:xfrm>
          <a:prstGeom prst="rightArrow">
            <a:avLst/>
          </a:prstGeom>
          <a:solidFill>
            <a:srgbClr val="9FB4BF"/>
          </a:solidFill>
          <a:ln/>
        </p:spPr>
      </p:sp>
      <p:sp>
        <p:nvSpPr>
          <p:cNvPr id="10" name="Shape 8"/>
          <p:cNvSpPr/>
          <p:nvPr/>
        </p:nvSpPr>
        <p:spPr>
          <a:xfrm>
            <a:off x="4663440" y="1600200"/>
            <a:ext cx="3200400" cy="2286000"/>
          </a:xfrm>
          <a:prstGeom prst="roundRect">
            <a:avLst>
              <a:gd name="adj" fmla="val 3200"/>
            </a:avLst>
          </a:prstGeom>
          <a:solidFill>
            <a:srgbClr val="FFFFFF"/>
          </a:solidFill>
          <a:ln w="12700">
            <a:solidFill>
              <a:srgbClr val="0F3B57"/>
            </a:solidFill>
            <a:prstDash val="solid"/>
          </a:ln>
        </p:spPr>
      </p:sp>
      <p:sp>
        <p:nvSpPr>
          <p:cNvPr id="11" name="Shape 9"/>
          <p:cNvSpPr/>
          <p:nvPr/>
        </p:nvSpPr>
        <p:spPr>
          <a:xfrm>
            <a:off x="4892040" y="1810512"/>
            <a:ext cx="502920" cy="502920"/>
          </a:xfrm>
          <a:prstGeom prst="ellipse">
            <a:avLst/>
          </a:prstGeom>
          <a:solidFill>
            <a:srgbClr val="0F3B57"/>
          </a:solidFill>
          <a:ln/>
        </p:spPr>
      </p:sp>
      <p:sp>
        <p:nvSpPr>
          <p:cNvPr id="12" name="Text 10"/>
          <p:cNvSpPr txBox="1"/>
          <p:nvPr/>
        </p:nvSpPr>
        <p:spPr>
          <a:xfrm>
            <a:off x="4892040" y="18105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5532120" y="1847088"/>
            <a:ext cx="2103120" cy="411480"/>
          </a:xfrm>
          <a:prstGeom prst="rect">
            <a:avLst/>
          </a:prstGeom>
          <a:noFill/>
          <a:ln/>
        </p:spPr>
        <p:txBody>
          <a:bodyPr wrap="square" lIns="0" tIns="0" rIns="0" bIns="0" rtlCol="0" anchor="ctr"/>
          <a:lstStyle/>
          <a:p>
            <a:pPr indent="0" marL="0">
              <a:buNone/>
            </a:pPr>
            <a:r>
              <a:rPr lang="en-US" sz="2000" b="1" dirty="0">
                <a:solidFill>
                  <a:srgbClr val="0F3B57"/>
                </a:solidFill>
                <a:latin typeface="Cambria" pitchFamily="34" charset="0"/>
                <a:ea typeface="Cambria" pitchFamily="34" charset="-122"/>
                <a:cs typeface="Cambria" pitchFamily="34" charset="-120"/>
              </a:rPr>
              <a:t>TEST</a:t>
            </a:r>
            <a:endParaRPr lang="en-US" sz="2000" dirty="0"/>
          </a:p>
        </p:txBody>
      </p:sp>
      <p:sp>
        <p:nvSpPr>
          <p:cNvPr id="14" name="Text 12"/>
          <p:cNvSpPr txBox="1"/>
          <p:nvPr/>
        </p:nvSpPr>
        <p:spPr>
          <a:xfrm>
            <a:off x="4919472" y="2514600"/>
            <a:ext cx="2743200" cy="1188720"/>
          </a:xfrm>
          <a:prstGeom prst="rect">
            <a:avLst/>
          </a:prstGeom>
          <a:noFill/>
          <a:ln/>
        </p:spPr>
        <p:txBody>
          <a:bodyPr wrap="square" lIns="0" tIns="0" rIns="0" bIns="0" rtlCol="0" anchor="ctr"/>
          <a:lstStyle/>
          <a:p>
            <a:pPr indent="0" marL="0">
              <a:lnSpc>
                <a:spcPts val="2000"/>
              </a:lnSpc>
              <a:buNone/>
            </a:pPr>
            <a:r>
              <a:rPr lang="en-US" sz="1400" dirty="0">
                <a:solidFill>
                  <a:srgbClr val="15242C"/>
                </a:solidFill>
                <a:latin typeface="Calibri" pitchFamily="34" charset="0"/>
                <a:ea typeface="Calibri" pitchFamily="34" charset="-122"/>
                <a:cs typeface="Calibri" pitchFamily="34" charset="-120"/>
              </a:rPr>
              <a:t>Run it on real</a:t>
            </a:r>
            <a:endParaRPr lang="en-US" sz="1400" dirty="0"/>
          </a:p>
          <a:p>
            <a:pPr indent="0" marL="0">
              <a:lnSpc>
                <a:spcPts val="2000"/>
              </a:lnSpc>
              <a:buNone/>
            </a:pPr>
            <a:r>
              <a:rPr lang="en-US" sz="1400" dirty="0">
                <a:solidFill>
                  <a:srgbClr val="15242C"/>
                </a:solidFill>
                <a:latin typeface="Calibri" pitchFamily="34" charset="0"/>
                <a:ea typeface="Calibri" pitchFamily="34" charset="-122"/>
                <a:cs typeface="Calibri" pitchFamily="34" charset="-120"/>
              </a:rPr>
              <a:t>NISAR (L-band)</a:t>
            </a:r>
            <a:endParaRPr lang="en-US" sz="1400" dirty="0"/>
          </a:p>
          <a:p>
            <a:pPr indent="0" marL="0">
              <a:lnSpc>
                <a:spcPts val="2000"/>
              </a:lnSpc>
              <a:buNone/>
            </a:pPr>
            <a:r>
              <a:rPr lang="en-US" sz="1400" dirty="0">
                <a:solidFill>
                  <a:srgbClr val="15242C"/>
                </a:solidFill>
                <a:latin typeface="Calibri" pitchFamily="34" charset="0"/>
                <a:ea typeface="Calibri" pitchFamily="34" charset="-122"/>
                <a:cs typeface="Calibri" pitchFamily="34" charset="-120"/>
              </a:rPr>
              <a:t>without retraining</a:t>
            </a:r>
            <a:endParaRPr lang="en-US" sz="1400" dirty="0"/>
          </a:p>
        </p:txBody>
      </p:sp>
      <p:sp>
        <p:nvSpPr>
          <p:cNvPr id="15" name="Shape 13"/>
          <p:cNvSpPr/>
          <p:nvPr/>
        </p:nvSpPr>
        <p:spPr>
          <a:xfrm>
            <a:off x="7973568" y="2514600"/>
            <a:ext cx="411480" cy="320040"/>
          </a:xfrm>
          <a:prstGeom prst="rightArrow">
            <a:avLst/>
          </a:prstGeom>
          <a:solidFill>
            <a:srgbClr val="9FB4BF"/>
          </a:solidFill>
          <a:ln/>
        </p:spPr>
      </p:sp>
      <p:sp>
        <p:nvSpPr>
          <p:cNvPr id="16" name="Shape 14"/>
          <p:cNvSpPr/>
          <p:nvPr/>
        </p:nvSpPr>
        <p:spPr>
          <a:xfrm>
            <a:off x="8503920" y="1600200"/>
            <a:ext cx="3200400" cy="2286000"/>
          </a:xfrm>
          <a:prstGeom prst="roundRect">
            <a:avLst>
              <a:gd name="adj" fmla="val 3200"/>
            </a:avLst>
          </a:prstGeom>
          <a:solidFill>
            <a:srgbClr val="FFFFFF"/>
          </a:solidFill>
          <a:ln w="12700">
            <a:solidFill>
              <a:srgbClr val="E0912F"/>
            </a:solidFill>
            <a:prstDash val="solid"/>
          </a:ln>
        </p:spPr>
      </p:sp>
      <p:sp>
        <p:nvSpPr>
          <p:cNvPr id="17" name="Shape 15"/>
          <p:cNvSpPr/>
          <p:nvPr/>
        </p:nvSpPr>
        <p:spPr>
          <a:xfrm>
            <a:off x="8732520" y="1810512"/>
            <a:ext cx="502920" cy="502920"/>
          </a:xfrm>
          <a:prstGeom prst="ellipse">
            <a:avLst/>
          </a:prstGeom>
          <a:solidFill>
            <a:srgbClr val="E0912F"/>
          </a:solidFill>
          <a:ln/>
        </p:spPr>
      </p:sp>
      <p:sp>
        <p:nvSpPr>
          <p:cNvPr id="18" name="Text 16"/>
          <p:cNvSpPr txBox="1"/>
          <p:nvPr/>
        </p:nvSpPr>
        <p:spPr>
          <a:xfrm>
            <a:off x="8732520" y="18105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txBox="1"/>
          <p:nvPr/>
        </p:nvSpPr>
        <p:spPr>
          <a:xfrm>
            <a:off x="9372600" y="1847088"/>
            <a:ext cx="2103120" cy="411480"/>
          </a:xfrm>
          <a:prstGeom prst="rect">
            <a:avLst/>
          </a:prstGeom>
          <a:noFill/>
          <a:ln/>
        </p:spPr>
        <p:txBody>
          <a:bodyPr wrap="square" lIns="0" tIns="0" rIns="0" bIns="0" rtlCol="0" anchor="ctr"/>
          <a:lstStyle/>
          <a:p>
            <a:pPr indent="0" marL="0">
              <a:buNone/>
            </a:pPr>
            <a:r>
              <a:rPr lang="en-US" sz="2000" b="1" dirty="0">
                <a:solidFill>
                  <a:srgbClr val="E0912F"/>
                </a:solidFill>
                <a:latin typeface="Cambria" pitchFamily="34" charset="0"/>
                <a:ea typeface="Cambria" pitchFamily="34" charset="-122"/>
                <a:cs typeface="Cambria" pitchFamily="34" charset="-120"/>
              </a:rPr>
              <a:t>FIX</a:t>
            </a:r>
            <a:endParaRPr lang="en-US" sz="2000" dirty="0"/>
          </a:p>
        </p:txBody>
      </p:sp>
      <p:sp>
        <p:nvSpPr>
          <p:cNvPr id="20" name="Text 18"/>
          <p:cNvSpPr txBox="1"/>
          <p:nvPr/>
        </p:nvSpPr>
        <p:spPr>
          <a:xfrm>
            <a:off x="8759952" y="2514600"/>
            <a:ext cx="2743200" cy="1188720"/>
          </a:xfrm>
          <a:prstGeom prst="rect">
            <a:avLst/>
          </a:prstGeom>
          <a:noFill/>
          <a:ln/>
        </p:spPr>
        <p:txBody>
          <a:bodyPr wrap="square" lIns="0" tIns="0" rIns="0" bIns="0" rtlCol="0" anchor="ctr"/>
          <a:lstStyle/>
          <a:p>
            <a:pPr indent="0" marL="0">
              <a:lnSpc>
                <a:spcPts val="2000"/>
              </a:lnSpc>
              <a:buNone/>
            </a:pPr>
            <a:r>
              <a:rPr lang="en-US" sz="1400" dirty="0">
                <a:solidFill>
                  <a:srgbClr val="15242C"/>
                </a:solidFill>
                <a:latin typeface="Calibri" pitchFamily="34" charset="0"/>
                <a:ea typeface="Calibri" pitchFamily="34" charset="-122"/>
                <a:cs typeface="Calibri" pitchFamily="34" charset="-120"/>
              </a:rPr>
              <a:t>Fine-tune on</a:t>
            </a:r>
            <a:endParaRPr lang="en-US" sz="1400" dirty="0"/>
          </a:p>
          <a:p>
            <a:pPr indent="0" marL="0">
              <a:lnSpc>
                <a:spcPts val="2000"/>
              </a:lnSpc>
              <a:buNone/>
            </a:pPr>
            <a:r>
              <a:rPr lang="en-US" sz="1400" dirty="0">
                <a:solidFill>
                  <a:srgbClr val="15242C"/>
                </a:solidFill>
                <a:latin typeface="Calibri" pitchFamily="34" charset="0"/>
                <a:ea typeface="Calibri" pitchFamily="34" charset="-122"/>
                <a:cs typeface="Calibri" pitchFamily="34" charset="-120"/>
              </a:rPr>
              <a:t>0 / 5 / 10 / 20 / 40</a:t>
            </a:r>
            <a:endParaRPr lang="en-US" sz="1400" dirty="0"/>
          </a:p>
          <a:p>
            <a:pPr indent="0" marL="0">
              <a:lnSpc>
                <a:spcPts val="2000"/>
              </a:lnSpc>
              <a:buNone/>
            </a:pPr>
            <a:r>
              <a:rPr lang="en-US" sz="1400" dirty="0">
                <a:solidFill>
                  <a:srgbClr val="15242C"/>
                </a:solidFill>
                <a:latin typeface="Calibri" pitchFamily="34" charset="0"/>
                <a:ea typeface="Calibri" pitchFamily="34" charset="-122"/>
                <a:cs typeface="Calibri" pitchFamily="34" charset="-120"/>
              </a:rPr>
              <a:t>labelled NISAR chips</a:t>
            </a:r>
            <a:endParaRPr lang="en-US" sz="1400" dirty="0"/>
          </a:p>
        </p:txBody>
      </p:sp>
      <p:sp>
        <p:nvSpPr>
          <p:cNvPr id="21" name="Shape 19"/>
          <p:cNvSpPr/>
          <p:nvPr/>
        </p:nvSpPr>
        <p:spPr>
          <a:xfrm>
            <a:off x="822960" y="4160520"/>
            <a:ext cx="10515600" cy="1508760"/>
          </a:xfrm>
          <a:prstGeom prst="roundRect">
            <a:avLst>
              <a:gd name="adj" fmla="val 4848"/>
            </a:avLst>
          </a:prstGeom>
          <a:solidFill>
            <a:srgbClr val="EDF3F6"/>
          </a:solidFill>
          <a:ln w="12700">
            <a:solidFill>
              <a:srgbClr val="D5E1E8"/>
            </a:solidFill>
            <a:prstDash val="solid"/>
          </a:ln>
        </p:spPr>
      </p:sp>
      <p:sp>
        <p:nvSpPr>
          <p:cNvPr id="22" name="Text 20"/>
          <p:cNvSpPr txBox="1"/>
          <p:nvPr/>
        </p:nvSpPr>
        <p:spPr>
          <a:xfrm>
            <a:off x="1097280" y="4343400"/>
            <a:ext cx="4572000" cy="320040"/>
          </a:xfrm>
          <a:prstGeom prst="rect">
            <a:avLst/>
          </a:prstGeom>
          <a:noFill/>
          <a:ln/>
        </p:spPr>
        <p:txBody>
          <a:bodyPr wrap="square" lIns="0" tIns="0" rIns="0" bIns="0" rtlCol="0" anchor="ctr"/>
          <a:lstStyle/>
          <a:p>
            <a:pPr indent="0" marL="0">
              <a:buNone/>
            </a:pPr>
            <a:r>
              <a:rPr lang="en-US" sz="1800" b="1" dirty="0">
                <a:solidFill>
                  <a:srgbClr val="0F3B57"/>
                </a:solidFill>
                <a:latin typeface="Cambria" pitchFamily="34" charset="0"/>
                <a:ea typeface="Cambria" pitchFamily="34" charset="-122"/>
                <a:cs typeface="Cambria" pitchFamily="34" charset="-120"/>
              </a:rPr>
              <a:t>The output is two numbers</a:t>
            </a:r>
            <a:endParaRPr lang="en-US" sz="1800" dirty="0"/>
          </a:p>
        </p:txBody>
      </p:sp>
      <p:sp>
        <p:nvSpPr>
          <p:cNvPr id="23" name="Text 21"/>
          <p:cNvSpPr txBox="1"/>
          <p:nvPr/>
        </p:nvSpPr>
        <p:spPr>
          <a:xfrm>
            <a:off x="1097280" y="4754880"/>
            <a:ext cx="9966960" cy="8229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5242C"/>
                </a:solidFill>
                <a:latin typeface="Calibri" pitchFamily="34" charset="0"/>
                <a:ea typeface="Calibri" pitchFamily="34" charset="-122"/>
                <a:cs typeface="Calibri" pitchFamily="34" charset="-120"/>
              </a:rPr>
              <a:t>The gap — how much accuracy (IoU) is lost when the model meets a new wavelength.</a:t>
            </a:r>
            <a:endParaRPr lang="en-US" sz="1500" dirty="0"/>
          </a:p>
          <a:p>
            <a:pPr marL="342900" indent="-342900">
              <a:spcAft>
                <a:spcPts val="600"/>
              </a:spcAft>
              <a:buSzPct val="100000"/>
              <a:buChar char="•"/>
            </a:pPr>
            <a:r>
              <a:rPr lang="en-US" sz="1500" dirty="0">
                <a:solidFill>
                  <a:srgbClr val="15242C"/>
                </a:solidFill>
                <a:latin typeface="Calibri" pitchFamily="34" charset="0"/>
                <a:ea typeface="Calibri" pitchFamily="34" charset="-122"/>
                <a:cs typeface="Calibri" pitchFamily="34" charset="-120"/>
              </a:rPr>
              <a:t>The recovery curve — how many hand-labelled NISAR chips buy that accuracy back.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94360"/>
          </a:xfrm>
          <a:prstGeom prst="rect">
            <a:avLst/>
          </a:prstGeom>
          <a:noFill/>
          <a:ln/>
        </p:spPr>
        <p:txBody>
          <a:bodyPr wrap="square" rtlCol="0" anchor="ctr"/>
          <a:lstStyle/>
          <a:p>
            <a:pPr indent="0" marL="0">
              <a:buNone/>
            </a:pPr>
            <a:r>
              <a:rPr lang="en-US" sz="3000" b="1" dirty="0">
                <a:solidFill>
                  <a:srgbClr val="0F3B57"/>
                </a:solidFill>
                <a:latin typeface="Cambria" pitchFamily="34" charset="0"/>
                <a:ea typeface="Cambria" pitchFamily="34" charset="-122"/>
                <a:cs typeface="Cambria" pitchFamily="34" charset="-120"/>
              </a:rPr>
              <a:t>Literature survey — where the field stands</a:t>
            </a:r>
            <a:endParaRPr lang="en-US" sz="3000" dirty="0"/>
          </a:p>
        </p:txBody>
      </p:sp>
      <p:sp>
        <p:nvSpPr>
          <p:cNvPr id="3" name="Text 1"/>
          <p:cNvSpPr txBox="1"/>
          <p:nvPr/>
        </p:nvSpPr>
        <p:spPr>
          <a:xfrm>
            <a:off x="566928" y="914400"/>
            <a:ext cx="11064240" cy="347472"/>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Four works define the space. Each one is close to us on one axis, and none covers both.</a:t>
            </a:r>
            <a:endParaRPr lang="en-US" sz="1500" dirty="0"/>
          </a:p>
        </p:txBody>
      </p:sp>
      <p:sp>
        <p:nvSpPr>
          <p:cNvPr id="4" name="Shape 2"/>
          <p:cNvSpPr/>
          <p:nvPr/>
        </p:nvSpPr>
        <p:spPr>
          <a:xfrm>
            <a:off x="822960" y="1463040"/>
            <a:ext cx="10515600" cy="868680"/>
          </a:xfrm>
          <a:prstGeom prst="roundRect">
            <a:avLst>
              <a:gd name="adj" fmla="val 8421"/>
            </a:avLst>
          </a:prstGeom>
          <a:solidFill>
            <a:srgbClr val="EDF3F6"/>
          </a:solidFill>
          <a:ln w="12700">
            <a:solidFill>
              <a:srgbClr val="D5E1E8"/>
            </a:solidFill>
            <a:prstDash val="solid"/>
          </a:ln>
        </p:spPr>
      </p:sp>
      <p:sp>
        <p:nvSpPr>
          <p:cNvPr id="5" name="Shape 3"/>
          <p:cNvSpPr/>
          <p:nvPr/>
        </p:nvSpPr>
        <p:spPr>
          <a:xfrm>
            <a:off x="1051560" y="1737360"/>
            <a:ext cx="320040" cy="320040"/>
          </a:xfrm>
          <a:prstGeom prst="ellipse">
            <a:avLst/>
          </a:prstGeom>
          <a:solidFill>
            <a:srgbClr val="1C7293"/>
          </a:solidFill>
          <a:ln/>
        </p:spPr>
      </p:sp>
      <p:sp>
        <p:nvSpPr>
          <p:cNvPr id="6" name="Text 4"/>
          <p:cNvSpPr txBox="1"/>
          <p:nvPr/>
        </p:nvSpPr>
        <p:spPr>
          <a:xfrm>
            <a:off x="1554480" y="1554480"/>
            <a:ext cx="4206240" cy="365760"/>
          </a:xfrm>
          <a:prstGeom prst="rect">
            <a:avLst/>
          </a:prstGeom>
          <a:noFill/>
          <a:ln/>
        </p:spPr>
        <p:txBody>
          <a:bodyPr wrap="square" lIns="0" tIns="0" rIns="0" bIns="0" rtlCol="0" anchor="ctr"/>
          <a:lstStyle/>
          <a:p>
            <a:pPr indent="0" marL="0">
              <a:buNone/>
            </a:pPr>
            <a:r>
              <a:rPr lang="en-US" sz="1700" b="1" dirty="0">
                <a:solidFill>
                  <a:srgbClr val="0F3B57"/>
                </a:solidFill>
                <a:latin typeface="Cambria" pitchFamily="34" charset="0"/>
                <a:ea typeface="Cambria" pitchFamily="34" charset="-122"/>
                <a:cs typeface="Cambria" pitchFamily="34" charset="-120"/>
              </a:rPr>
              <a:t>Sen1Floods11</a:t>
            </a:r>
            <a:endParaRPr lang="en-US" sz="1700" dirty="0"/>
          </a:p>
        </p:txBody>
      </p:sp>
      <p:sp>
        <p:nvSpPr>
          <p:cNvPr id="7" name="Text 5"/>
          <p:cNvSpPr txBox="1"/>
          <p:nvPr/>
        </p:nvSpPr>
        <p:spPr>
          <a:xfrm>
            <a:off x="1554480" y="1920240"/>
            <a:ext cx="4206240" cy="292608"/>
          </a:xfrm>
          <a:prstGeom prst="rect">
            <a:avLst/>
          </a:prstGeom>
          <a:noFill/>
          <a:ln/>
        </p:spPr>
        <p:txBody>
          <a:bodyPr wrap="square" lIns="0" tIns="0" rIns="0" bIns="0" rtlCol="0" anchor="ctr"/>
          <a:lstStyle/>
          <a:p>
            <a:pPr indent="0" marL="0">
              <a:buNone/>
            </a:pPr>
            <a:r>
              <a:rPr lang="en-US" sz="1300" i="1" dirty="0">
                <a:solidFill>
                  <a:srgbClr val="5B6B73"/>
                </a:solidFill>
                <a:latin typeface="Calibri" pitchFamily="34" charset="0"/>
                <a:ea typeface="Calibri" pitchFamily="34" charset="-122"/>
                <a:cs typeface="Calibri" pitchFamily="34" charset="-120"/>
              </a:rPr>
              <a:t>Bonafilia et al., 2020</a:t>
            </a:r>
            <a:endParaRPr lang="en-US" sz="1300" dirty="0"/>
          </a:p>
        </p:txBody>
      </p:sp>
      <p:sp>
        <p:nvSpPr>
          <p:cNvPr id="8" name="Text 6"/>
          <p:cNvSpPr txBox="1"/>
          <p:nvPr/>
        </p:nvSpPr>
        <p:spPr>
          <a:xfrm>
            <a:off x="5943600" y="1664208"/>
            <a:ext cx="5120640" cy="548640"/>
          </a:xfrm>
          <a:prstGeom prst="rect">
            <a:avLst/>
          </a:prstGeom>
          <a:noFill/>
          <a:ln/>
        </p:spPr>
        <p:txBody>
          <a:bodyPr wrap="square" lIns="0" tIns="0" rIns="0" bIns="0" rtlCol="0" anchor="ctr"/>
          <a:lstStyle/>
          <a:p>
            <a:pPr indent="0" marL="0">
              <a:buNone/>
            </a:pPr>
            <a:r>
              <a:rPr lang="en-US" sz="1400" dirty="0">
                <a:solidFill>
                  <a:srgbClr val="15242C"/>
                </a:solidFill>
                <a:latin typeface="Calibri" pitchFamily="34" charset="0"/>
                <a:ea typeface="Calibri" pitchFamily="34" charset="-122"/>
                <a:cs typeface="Calibri" pitchFamily="34" charset="-120"/>
              </a:rPr>
              <a:t>The labelled benchmark we train on. C-band only.</a:t>
            </a:r>
            <a:endParaRPr lang="en-US" sz="1400" dirty="0"/>
          </a:p>
        </p:txBody>
      </p:sp>
      <p:sp>
        <p:nvSpPr>
          <p:cNvPr id="9" name="Shape 7"/>
          <p:cNvSpPr/>
          <p:nvPr/>
        </p:nvSpPr>
        <p:spPr>
          <a:xfrm>
            <a:off x="822960" y="2487168"/>
            <a:ext cx="10515600" cy="868680"/>
          </a:xfrm>
          <a:prstGeom prst="roundRect">
            <a:avLst>
              <a:gd name="adj" fmla="val 8421"/>
            </a:avLst>
          </a:prstGeom>
          <a:solidFill>
            <a:srgbClr val="EDF3F6"/>
          </a:solidFill>
          <a:ln w="12700">
            <a:solidFill>
              <a:srgbClr val="D5E1E8"/>
            </a:solidFill>
            <a:prstDash val="solid"/>
          </a:ln>
        </p:spPr>
      </p:sp>
      <p:sp>
        <p:nvSpPr>
          <p:cNvPr id="10" name="Shape 8"/>
          <p:cNvSpPr/>
          <p:nvPr/>
        </p:nvSpPr>
        <p:spPr>
          <a:xfrm>
            <a:off x="1051560" y="2761488"/>
            <a:ext cx="320040" cy="320040"/>
          </a:xfrm>
          <a:prstGeom prst="ellipse">
            <a:avLst/>
          </a:prstGeom>
          <a:solidFill>
            <a:srgbClr val="1C7293"/>
          </a:solidFill>
          <a:ln/>
        </p:spPr>
      </p:sp>
      <p:sp>
        <p:nvSpPr>
          <p:cNvPr id="11" name="Text 9"/>
          <p:cNvSpPr txBox="1"/>
          <p:nvPr/>
        </p:nvSpPr>
        <p:spPr>
          <a:xfrm>
            <a:off x="1554480" y="2578608"/>
            <a:ext cx="4206240" cy="365760"/>
          </a:xfrm>
          <a:prstGeom prst="rect">
            <a:avLst/>
          </a:prstGeom>
          <a:noFill/>
          <a:ln/>
        </p:spPr>
        <p:txBody>
          <a:bodyPr wrap="square" lIns="0" tIns="0" rIns="0" bIns="0" rtlCol="0" anchor="ctr"/>
          <a:lstStyle/>
          <a:p>
            <a:pPr indent="0" marL="0">
              <a:buNone/>
            </a:pPr>
            <a:r>
              <a:rPr lang="en-US" sz="1700" b="1" dirty="0">
                <a:solidFill>
                  <a:srgbClr val="0F3B57"/>
                </a:solidFill>
                <a:latin typeface="Cambria" pitchFamily="34" charset="0"/>
                <a:ea typeface="Cambria" pitchFamily="34" charset="-122"/>
                <a:cs typeface="Cambria" pitchFamily="34" charset="-120"/>
              </a:rPr>
              <a:t>ALOS-2 / PALSAR-2 flood segmentation</a:t>
            </a:r>
            <a:endParaRPr lang="en-US" sz="1700" dirty="0"/>
          </a:p>
        </p:txBody>
      </p:sp>
      <p:sp>
        <p:nvSpPr>
          <p:cNvPr id="12" name="Text 10"/>
          <p:cNvSpPr txBox="1"/>
          <p:nvPr/>
        </p:nvSpPr>
        <p:spPr>
          <a:xfrm>
            <a:off x="1554480" y="2944368"/>
            <a:ext cx="4206240" cy="292608"/>
          </a:xfrm>
          <a:prstGeom prst="rect">
            <a:avLst/>
          </a:prstGeom>
          <a:noFill/>
          <a:ln/>
        </p:spPr>
        <p:txBody>
          <a:bodyPr wrap="square" lIns="0" tIns="0" rIns="0" bIns="0" rtlCol="0" anchor="ctr"/>
          <a:lstStyle/>
          <a:p>
            <a:pPr indent="0" marL="0">
              <a:buNone/>
            </a:pPr>
            <a:r>
              <a:rPr lang="en-US" sz="1300" i="1" dirty="0">
                <a:solidFill>
                  <a:srgbClr val="5B6B73"/>
                </a:solidFill>
                <a:latin typeface="Calibri" pitchFamily="34" charset="0"/>
                <a:ea typeface="Calibri" pitchFamily="34" charset="-122"/>
                <a:cs typeface="Calibri" pitchFamily="34" charset="-120"/>
              </a:rPr>
              <a:t>IGARSS, 2023</a:t>
            </a:r>
            <a:endParaRPr lang="en-US" sz="1300" dirty="0"/>
          </a:p>
        </p:txBody>
      </p:sp>
      <p:sp>
        <p:nvSpPr>
          <p:cNvPr id="13" name="Text 11"/>
          <p:cNvSpPr txBox="1"/>
          <p:nvPr/>
        </p:nvSpPr>
        <p:spPr>
          <a:xfrm>
            <a:off x="5943600" y="2688336"/>
            <a:ext cx="5120640" cy="548640"/>
          </a:xfrm>
          <a:prstGeom prst="rect">
            <a:avLst/>
          </a:prstGeom>
          <a:noFill/>
          <a:ln/>
        </p:spPr>
        <p:txBody>
          <a:bodyPr wrap="square" lIns="0" tIns="0" rIns="0" bIns="0" rtlCol="0" anchor="ctr"/>
          <a:lstStyle/>
          <a:p>
            <a:pPr indent="0" marL="0">
              <a:buNone/>
            </a:pPr>
            <a:r>
              <a:rPr lang="en-US" sz="1400" dirty="0">
                <a:solidFill>
                  <a:srgbClr val="15242C"/>
                </a:solidFill>
                <a:latin typeface="Calibri" pitchFamily="34" charset="0"/>
                <a:ea typeface="Calibri" pitchFamily="34" charset="-122"/>
                <a:cs typeface="Calibri" pitchFamily="34" charset="-120"/>
              </a:rPr>
              <a:t>Deep flood mapping on L-band exists — but a different satellite, no transfer.</a:t>
            </a:r>
            <a:endParaRPr lang="en-US" sz="1400" dirty="0"/>
          </a:p>
        </p:txBody>
      </p:sp>
      <p:sp>
        <p:nvSpPr>
          <p:cNvPr id="14" name="Shape 12"/>
          <p:cNvSpPr/>
          <p:nvPr/>
        </p:nvSpPr>
        <p:spPr>
          <a:xfrm>
            <a:off x="822960" y="3511296"/>
            <a:ext cx="10515600" cy="868680"/>
          </a:xfrm>
          <a:prstGeom prst="roundRect">
            <a:avLst>
              <a:gd name="adj" fmla="val 8421"/>
            </a:avLst>
          </a:prstGeom>
          <a:solidFill>
            <a:srgbClr val="EDF3F6"/>
          </a:solidFill>
          <a:ln w="12700">
            <a:solidFill>
              <a:srgbClr val="D5E1E8"/>
            </a:solidFill>
            <a:prstDash val="solid"/>
          </a:ln>
        </p:spPr>
      </p:sp>
      <p:sp>
        <p:nvSpPr>
          <p:cNvPr id="15" name="Shape 13"/>
          <p:cNvSpPr/>
          <p:nvPr/>
        </p:nvSpPr>
        <p:spPr>
          <a:xfrm>
            <a:off x="1051560" y="3785616"/>
            <a:ext cx="320040" cy="320040"/>
          </a:xfrm>
          <a:prstGeom prst="ellipse">
            <a:avLst/>
          </a:prstGeom>
          <a:solidFill>
            <a:srgbClr val="1C7293"/>
          </a:solidFill>
          <a:ln/>
        </p:spPr>
      </p:sp>
      <p:sp>
        <p:nvSpPr>
          <p:cNvPr id="16" name="Text 14"/>
          <p:cNvSpPr txBox="1"/>
          <p:nvPr/>
        </p:nvSpPr>
        <p:spPr>
          <a:xfrm>
            <a:off x="1554480" y="3602736"/>
            <a:ext cx="4206240" cy="365760"/>
          </a:xfrm>
          <a:prstGeom prst="rect">
            <a:avLst/>
          </a:prstGeom>
          <a:noFill/>
          <a:ln/>
        </p:spPr>
        <p:txBody>
          <a:bodyPr wrap="square" lIns="0" tIns="0" rIns="0" bIns="0" rtlCol="0" anchor="ctr"/>
          <a:lstStyle/>
          <a:p>
            <a:pPr indent="0" marL="0">
              <a:buNone/>
            </a:pPr>
            <a:r>
              <a:rPr lang="en-US" sz="1700" b="1" dirty="0">
                <a:solidFill>
                  <a:srgbClr val="0F3B57"/>
                </a:solidFill>
                <a:latin typeface="Cambria" pitchFamily="34" charset="0"/>
                <a:ea typeface="Cambria" pitchFamily="34" charset="-122"/>
                <a:cs typeface="Cambria" pitchFamily="34" charset="-120"/>
              </a:rPr>
              <a:t>Beyond Backscatter</a:t>
            </a:r>
            <a:endParaRPr lang="en-US" sz="1700" dirty="0"/>
          </a:p>
        </p:txBody>
      </p:sp>
      <p:sp>
        <p:nvSpPr>
          <p:cNvPr id="17" name="Text 15"/>
          <p:cNvSpPr txBox="1"/>
          <p:nvPr/>
        </p:nvSpPr>
        <p:spPr>
          <a:xfrm>
            <a:off x="1554480" y="3968496"/>
            <a:ext cx="4206240" cy="292608"/>
          </a:xfrm>
          <a:prstGeom prst="rect">
            <a:avLst/>
          </a:prstGeom>
          <a:noFill/>
          <a:ln/>
        </p:spPr>
        <p:txBody>
          <a:bodyPr wrap="square" lIns="0" tIns="0" rIns="0" bIns="0" rtlCol="0" anchor="ctr"/>
          <a:lstStyle/>
          <a:p>
            <a:pPr indent="0" marL="0">
              <a:buNone/>
            </a:pPr>
            <a:r>
              <a:rPr lang="en-US" sz="1300" i="1" dirty="0">
                <a:solidFill>
                  <a:srgbClr val="5B6B73"/>
                </a:solidFill>
                <a:latin typeface="Calibri" pitchFamily="34" charset="0"/>
                <a:ea typeface="Calibri" pitchFamily="34" charset="-122"/>
                <a:cs typeface="Calibri" pitchFamily="34" charset="-120"/>
              </a:rPr>
              <a:t>Sica et al., 2026</a:t>
            </a:r>
            <a:endParaRPr lang="en-US" sz="1300" dirty="0"/>
          </a:p>
        </p:txBody>
      </p:sp>
      <p:sp>
        <p:nvSpPr>
          <p:cNvPr id="18" name="Text 16"/>
          <p:cNvSpPr txBox="1"/>
          <p:nvPr/>
        </p:nvSpPr>
        <p:spPr>
          <a:xfrm>
            <a:off x="5943600" y="3712464"/>
            <a:ext cx="5120640" cy="548640"/>
          </a:xfrm>
          <a:prstGeom prst="rect">
            <a:avLst/>
          </a:prstGeom>
          <a:noFill/>
          <a:ln/>
        </p:spPr>
        <p:txBody>
          <a:bodyPr wrap="square" lIns="0" tIns="0" rIns="0" bIns="0" rtlCol="0" anchor="ctr"/>
          <a:lstStyle/>
          <a:p>
            <a:pPr indent="0" marL="0">
              <a:buNone/>
            </a:pPr>
            <a:r>
              <a:rPr lang="en-US" sz="1400" dirty="0">
                <a:solidFill>
                  <a:srgbClr val="15242C"/>
                </a:solidFill>
                <a:latin typeface="Calibri" pitchFamily="34" charset="0"/>
                <a:ea typeface="Calibri" pitchFamily="34" charset="-122"/>
                <a:cs typeface="Calibri" pitchFamily="34" charset="-120"/>
              </a:rPr>
              <a:t>C-band → L-band transfer of a deep model — but not for floods.</a:t>
            </a:r>
            <a:endParaRPr lang="en-US" sz="1400" dirty="0"/>
          </a:p>
        </p:txBody>
      </p:sp>
      <p:sp>
        <p:nvSpPr>
          <p:cNvPr id="19" name="Shape 17"/>
          <p:cNvSpPr/>
          <p:nvPr/>
        </p:nvSpPr>
        <p:spPr>
          <a:xfrm>
            <a:off x="822960" y="4535424"/>
            <a:ext cx="10515600" cy="868680"/>
          </a:xfrm>
          <a:prstGeom prst="roundRect">
            <a:avLst>
              <a:gd name="adj" fmla="val 8421"/>
            </a:avLst>
          </a:prstGeom>
          <a:solidFill>
            <a:srgbClr val="FDF3E3"/>
          </a:solidFill>
          <a:ln w="12700">
            <a:solidFill>
              <a:srgbClr val="E0912F"/>
            </a:solidFill>
            <a:prstDash val="solid"/>
          </a:ln>
        </p:spPr>
      </p:sp>
      <p:sp>
        <p:nvSpPr>
          <p:cNvPr id="20" name="Shape 18"/>
          <p:cNvSpPr/>
          <p:nvPr/>
        </p:nvSpPr>
        <p:spPr>
          <a:xfrm>
            <a:off x="1051560" y="4809744"/>
            <a:ext cx="320040" cy="320040"/>
          </a:xfrm>
          <a:prstGeom prst="ellipse">
            <a:avLst/>
          </a:prstGeom>
          <a:solidFill>
            <a:srgbClr val="E0912F"/>
          </a:solidFill>
          <a:ln/>
        </p:spPr>
      </p:sp>
      <p:sp>
        <p:nvSpPr>
          <p:cNvPr id="21" name="Text 19"/>
          <p:cNvSpPr txBox="1"/>
          <p:nvPr/>
        </p:nvSpPr>
        <p:spPr>
          <a:xfrm>
            <a:off x="1554480" y="4626864"/>
            <a:ext cx="4206240" cy="365760"/>
          </a:xfrm>
          <a:prstGeom prst="rect">
            <a:avLst/>
          </a:prstGeom>
          <a:noFill/>
          <a:ln/>
        </p:spPr>
        <p:txBody>
          <a:bodyPr wrap="square" lIns="0" tIns="0" rIns="0" bIns="0" rtlCol="0" anchor="ctr"/>
          <a:lstStyle/>
          <a:p>
            <a:pPr indent="0" marL="0">
              <a:buNone/>
            </a:pPr>
            <a:r>
              <a:rPr lang="en-US" sz="1700" b="1" dirty="0">
                <a:solidFill>
                  <a:srgbClr val="0F3B57"/>
                </a:solidFill>
                <a:latin typeface="Cambria" pitchFamily="34" charset="0"/>
                <a:ea typeface="Cambria" pitchFamily="34" charset="-122"/>
                <a:cs typeface="Cambria" pitchFamily="34" charset="-120"/>
              </a:rPr>
              <a:t>DeepSARFlood</a:t>
            </a:r>
            <a:endParaRPr lang="en-US" sz="1700" dirty="0"/>
          </a:p>
        </p:txBody>
      </p:sp>
      <p:sp>
        <p:nvSpPr>
          <p:cNvPr id="22" name="Text 20"/>
          <p:cNvSpPr txBox="1"/>
          <p:nvPr/>
        </p:nvSpPr>
        <p:spPr>
          <a:xfrm>
            <a:off x="1554480" y="4992624"/>
            <a:ext cx="4206240" cy="292608"/>
          </a:xfrm>
          <a:prstGeom prst="rect">
            <a:avLst/>
          </a:prstGeom>
          <a:noFill/>
          <a:ln/>
        </p:spPr>
        <p:txBody>
          <a:bodyPr wrap="square" lIns="0" tIns="0" rIns="0" bIns="0" rtlCol="0" anchor="ctr"/>
          <a:lstStyle/>
          <a:p>
            <a:pPr indent="0" marL="0">
              <a:buNone/>
            </a:pPr>
            <a:r>
              <a:rPr lang="en-US" sz="1300" i="1" dirty="0">
                <a:solidFill>
                  <a:srgbClr val="5B6B73"/>
                </a:solidFill>
                <a:latin typeface="Calibri" pitchFamily="34" charset="0"/>
                <a:ea typeface="Calibri" pitchFamily="34" charset="-122"/>
                <a:cs typeface="Calibri" pitchFamily="34" charset="-120"/>
              </a:rPr>
              <a:t>Sharma &amp; Saharia, 2025</a:t>
            </a:r>
            <a:endParaRPr lang="en-US" sz="1300" dirty="0"/>
          </a:p>
        </p:txBody>
      </p:sp>
      <p:sp>
        <p:nvSpPr>
          <p:cNvPr id="23" name="Text 21"/>
          <p:cNvSpPr txBox="1"/>
          <p:nvPr/>
        </p:nvSpPr>
        <p:spPr>
          <a:xfrm>
            <a:off x="5943600" y="4736592"/>
            <a:ext cx="5120640" cy="548640"/>
          </a:xfrm>
          <a:prstGeom prst="rect">
            <a:avLst/>
          </a:prstGeom>
          <a:noFill/>
          <a:ln/>
        </p:spPr>
        <p:txBody>
          <a:bodyPr wrap="square" lIns="0" tIns="0" rIns="0" bIns="0" rtlCol="0" anchor="ctr"/>
          <a:lstStyle/>
          <a:p>
            <a:pPr indent="0" marL="0">
              <a:buNone/>
            </a:pPr>
            <a:r>
              <a:rPr lang="en-US" sz="1400" dirty="0">
                <a:solidFill>
                  <a:srgbClr val="15242C"/>
                </a:solidFill>
                <a:latin typeface="Calibri" pitchFamily="34" charset="0"/>
                <a:ea typeface="Calibri" pitchFamily="34" charset="-122"/>
                <a:cs typeface="Calibri" pitchFamily="34" charset="-120"/>
              </a:rPr>
              <a:t>State of the art. Positions itself for NISAR — assumed, never tested.</a:t>
            </a:r>
            <a:endParaRPr lang="en-US" sz="1400" dirty="0"/>
          </a:p>
        </p:txBody>
      </p:sp>
      <p:sp>
        <p:nvSpPr>
          <p:cNvPr id="24" name="Text 22"/>
          <p:cNvSpPr txBox="1"/>
          <p:nvPr/>
        </p:nvSpPr>
        <p:spPr>
          <a:xfrm>
            <a:off x="822960" y="5669280"/>
            <a:ext cx="10515600" cy="365760"/>
          </a:xfrm>
          <a:prstGeom prst="rect">
            <a:avLst/>
          </a:prstGeom>
          <a:noFill/>
          <a:ln/>
        </p:spPr>
        <p:txBody>
          <a:bodyPr wrap="square" lIns="0" tIns="0" rIns="0" bIns="0" rtlCol="0" anchor="ctr"/>
          <a:lstStyle/>
          <a:p>
            <a:pPr indent="0" marL="0">
              <a:buNone/>
            </a:pPr>
            <a:r>
              <a:rPr lang="en-US" sz="1500" b="1" dirty="0">
                <a:solidFill>
                  <a:srgbClr val="0F3B57"/>
                </a:solidFill>
                <a:latin typeface="Calibri" pitchFamily="34" charset="0"/>
                <a:ea typeface="Calibri" pitchFamily="34" charset="-122"/>
                <a:cs typeface="Calibri" pitchFamily="34" charset="-120"/>
              </a:rPr>
              <a:t>Our gap sits where the last two meet: real L-band data, for floods, with the transfer actually measured.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94360"/>
          </a:xfrm>
          <a:prstGeom prst="rect">
            <a:avLst/>
          </a:prstGeom>
          <a:noFill/>
          <a:ln/>
        </p:spPr>
        <p:txBody>
          <a:bodyPr wrap="square" rtlCol="0" anchor="ctr"/>
          <a:lstStyle/>
          <a:p>
            <a:pPr indent="0" marL="0">
              <a:buNone/>
            </a:pPr>
            <a:r>
              <a:rPr lang="en-US" sz="3000" b="1" dirty="0">
                <a:solidFill>
                  <a:srgbClr val="0F3B57"/>
                </a:solidFill>
                <a:latin typeface="Cambria" pitchFamily="34" charset="0"/>
                <a:ea typeface="Cambria" pitchFamily="34" charset="-122"/>
                <a:cs typeface="Cambria" pitchFamily="34" charset="-120"/>
              </a:rPr>
              <a:t>Most relevant work 1 — Sen1Floods11</a:t>
            </a:r>
            <a:endParaRPr lang="en-US" sz="3000" dirty="0"/>
          </a:p>
        </p:txBody>
      </p:sp>
      <p:sp>
        <p:nvSpPr>
          <p:cNvPr id="3" name="Text 1"/>
          <p:cNvSpPr txBox="1"/>
          <p:nvPr/>
        </p:nvSpPr>
        <p:spPr>
          <a:xfrm>
            <a:off x="566928" y="914400"/>
            <a:ext cx="11064240" cy="347472"/>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Bonafilia et al., CVPRW 2020 · our training foundation and the baseline we reproduce</a:t>
            </a:r>
            <a:endParaRPr lang="en-US" sz="1500" dirty="0"/>
          </a:p>
        </p:txBody>
      </p:sp>
      <p:sp>
        <p:nvSpPr>
          <p:cNvPr id="4" name="Shape 2"/>
          <p:cNvSpPr/>
          <p:nvPr/>
        </p:nvSpPr>
        <p:spPr>
          <a:xfrm>
            <a:off x="685800" y="1463040"/>
            <a:ext cx="3383280" cy="3291840"/>
          </a:xfrm>
          <a:prstGeom prst="roundRect">
            <a:avLst>
              <a:gd name="adj" fmla="val 2222"/>
            </a:avLst>
          </a:prstGeom>
          <a:solidFill>
            <a:srgbClr val="FFFFFF"/>
          </a:solidFill>
          <a:ln w="12700">
            <a:solidFill>
              <a:srgbClr val="3E7C59"/>
            </a:solidFill>
            <a:prstDash val="solid"/>
          </a:ln>
        </p:spPr>
      </p:sp>
      <p:sp>
        <p:nvSpPr>
          <p:cNvPr id="5" name="Shape 3"/>
          <p:cNvSpPr/>
          <p:nvPr/>
        </p:nvSpPr>
        <p:spPr>
          <a:xfrm>
            <a:off x="685800" y="1463040"/>
            <a:ext cx="3383280" cy="548640"/>
          </a:xfrm>
          <a:prstGeom prst="roundRect">
            <a:avLst>
              <a:gd name="adj" fmla="val 13333"/>
            </a:avLst>
          </a:prstGeom>
          <a:solidFill>
            <a:srgbClr val="3E7C59"/>
          </a:solidFill>
          <a:ln/>
        </p:spPr>
      </p:sp>
      <p:sp>
        <p:nvSpPr>
          <p:cNvPr id="6" name="Text 4"/>
          <p:cNvSpPr txBox="1"/>
          <p:nvPr/>
        </p:nvSpPr>
        <p:spPr>
          <a:xfrm>
            <a:off x="868680" y="1463040"/>
            <a:ext cx="301752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Contributions</a:t>
            </a:r>
            <a:endParaRPr lang="en-US" sz="1800" dirty="0"/>
          </a:p>
        </p:txBody>
      </p:sp>
      <p:sp>
        <p:nvSpPr>
          <p:cNvPr id="7" name="Text 5"/>
          <p:cNvSpPr txBox="1"/>
          <p:nvPr/>
        </p:nvSpPr>
        <p:spPr>
          <a:xfrm>
            <a:off x="886968" y="2194560"/>
            <a:ext cx="3017520" cy="237744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15242C"/>
                </a:solidFill>
                <a:latin typeface="Calibri" pitchFamily="34" charset="0"/>
                <a:ea typeface="Calibri" pitchFamily="34" charset="-122"/>
                <a:cs typeface="Calibri" pitchFamily="34" charset="-120"/>
              </a:rPr>
              <a:t>4,831 Sentinel-1 chips, 11 flood events, 6 continents</a:t>
            </a:r>
            <a:endParaRPr lang="en-US" sz="1350" dirty="0"/>
          </a:p>
          <a:p>
            <a:pPr marL="342900" indent="-342900">
              <a:spcAft>
                <a:spcPts val="1000"/>
              </a:spcAft>
              <a:buSzPct val="100000"/>
              <a:buChar char="•"/>
            </a:pPr>
            <a:r>
              <a:rPr lang="en-US" sz="1350" dirty="0">
                <a:solidFill>
                  <a:srgbClr val="15242C"/>
                </a:solidFill>
                <a:latin typeface="Calibri" pitchFamily="34" charset="0"/>
                <a:ea typeface="Calibri" pitchFamily="34" charset="-122"/>
                <a:cs typeface="Calibri" pitchFamily="34" charset="-120"/>
              </a:rPr>
              <a:t>446 hand-labelled chips; permanent water vs flood water</a:t>
            </a:r>
            <a:endParaRPr lang="en-US" sz="1350" dirty="0"/>
          </a:p>
          <a:p>
            <a:pPr marL="342900" indent="-342900">
              <a:spcAft>
                <a:spcPts val="1000"/>
              </a:spcAft>
              <a:buSzPct val="100000"/>
              <a:buChar char="•"/>
            </a:pPr>
            <a:r>
              <a:rPr lang="en-US" sz="1350" dirty="0">
                <a:solidFill>
                  <a:srgbClr val="15242C"/>
                </a:solidFill>
                <a:latin typeface="Calibri" pitchFamily="34" charset="0"/>
                <a:ea typeface="Calibri" pitchFamily="34" charset="-122"/>
                <a:cs typeface="Calibri" pitchFamily="34" charset="-120"/>
              </a:rPr>
              <a:t>Deep models beat backscatter thresholding on radar</a:t>
            </a:r>
            <a:endParaRPr lang="en-US" sz="1350" dirty="0"/>
          </a:p>
          <a:p>
            <a:pPr marL="342900" indent="-342900">
              <a:spcAft>
                <a:spcPts val="1000"/>
              </a:spcAft>
              <a:buSzPct val="100000"/>
              <a:buChar char="•"/>
            </a:pPr>
            <a:r>
              <a:rPr lang="en-US" sz="1350" dirty="0">
                <a:solidFill>
                  <a:srgbClr val="15242C"/>
                </a:solidFill>
                <a:latin typeface="Calibri" pitchFamily="34" charset="0"/>
                <a:ea typeface="Calibri" pitchFamily="34" charset="-122"/>
                <a:cs typeface="Calibri" pitchFamily="34" charset="-120"/>
              </a:rPr>
              <a:t>Code and data are public</a:t>
            </a:r>
            <a:endParaRPr lang="en-US" sz="1350" dirty="0"/>
          </a:p>
        </p:txBody>
      </p:sp>
      <p:sp>
        <p:nvSpPr>
          <p:cNvPr id="8" name="Shape 6"/>
          <p:cNvSpPr/>
          <p:nvPr/>
        </p:nvSpPr>
        <p:spPr>
          <a:xfrm>
            <a:off x="4343400" y="1463040"/>
            <a:ext cx="3383280" cy="3291840"/>
          </a:xfrm>
          <a:prstGeom prst="roundRect">
            <a:avLst>
              <a:gd name="adj" fmla="val 2222"/>
            </a:avLst>
          </a:prstGeom>
          <a:solidFill>
            <a:srgbClr val="FFFFFF"/>
          </a:solidFill>
          <a:ln w="12700">
            <a:solidFill>
              <a:srgbClr val="A33B2A"/>
            </a:solidFill>
            <a:prstDash val="solid"/>
          </a:ln>
        </p:spPr>
      </p:sp>
      <p:sp>
        <p:nvSpPr>
          <p:cNvPr id="9" name="Shape 7"/>
          <p:cNvSpPr/>
          <p:nvPr/>
        </p:nvSpPr>
        <p:spPr>
          <a:xfrm>
            <a:off x="4343400" y="1463040"/>
            <a:ext cx="3383280" cy="548640"/>
          </a:xfrm>
          <a:prstGeom prst="roundRect">
            <a:avLst>
              <a:gd name="adj" fmla="val 13333"/>
            </a:avLst>
          </a:prstGeom>
          <a:solidFill>
            <a:srgbClr val="A33B2A"/>
          </a:solidFill>
          <a:ln/>
        </p:spPr>
      </p:sp>
      <p:sp>
        <p:nvSpPr>
          <p:cNvPr id="10" name="Text 8"/>
          <p:cNvSpPr txBox="1"/>
          <p:nvPr/>
        </p:nvSpPr>
        <p:spPr>
          <a:xfrm>
            <a:off x="4526280" y="1463040"/>
            <a:ext cx="301752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Weaknesses</a:t>
            </a:r>
            <a:endParaRPr lang="en-US" sz="1800" dirty="0"/>
          </a:p>
        </p:txBody>
      </p:sp>
      <p:sp>
        <p:nvSpPr>
          <p:cNvPr id="11" name="Text 9"/>
          <p:cNvSpPr txBox="1"/>
          <p:nvPr/>
        </p:nvSpPr>
        <p:spPr>
          <a:xfrm>
            <a:off x="4544568" y="2194560"/>
            <a:ext cx="3017520" cy="237744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15242C"/>
                </a:solidFill>
                <a:latin typeface="Calibri" pitchFamily="34" charset="0"/>
                <a:ea typeface="Calibri" pitchFamily="34" charset="-122"/>
                <a:cs typeface="Calibri" pitchFamily="34" charset="-120"/>
              </a:rPr>
              <a:t>One sensor, one band — all C-band VV/VH</a:t>
            </a:r>
            <a:endParaRPr lang="en-US" sz="1350" dirty="0"/>
          </a:p>
          <a:p>
            <a:pPr marL="342900" indent="-342900">
              <a:spcAft>
                <a:spcPts val="1000"/>
              </a:spcAft>
              <a:buSzPct val="100000"/>
              <a:buChar char="•"/>
            </a:pPr>
            <a:r>
              <a:rPr lang="en-US" sz="1350" dirty="0">
                <a:solidFill>
                  <a:srgbClr val="15242C"/>
                </a:solidFill>
                <a:latin typeface="Calibri" pitchFamily="34" charset="0"/>
                <a:ea typeface="Calibri" pitchFamily="34" charset="-122"/>
                <a:cs typeface="Calibri" pitchFamily="34" charset="-120"/>
              </a:rPr>
              <a:t>Never shown whether it learned water or C-band statistics</a:t>
            </a:r>
            <a:endParaRPr lang="en-US" sz="1350" dirty="0"/>
          </a:p>
          <a:p>
            <a:pPr marL="342900" indent="-342900">
              <a:spcAft>
                <a:spcPts val="1000"/>
              </a:spcAft>
              <a:buSzPct val="100000"/>
              <a:buChar char="•"/>
            </a:pPr>
            <a:r>
              <a:rPr lang="en-US" sz="1350" dirty="0">
                <a:solidFill>
                  <a:srgbClr val="15242C"/>
                </a:solidFill>
                <a:latin typeface="Calibri" pitchFamily="34" charset="0"/>
                <a:ea typeface="Calibri" pitchFamily="34" charset="-122"/>
                <a:cs typeface="Calibri" pitchFamily="34" charset="-120"/>
              </a:rPr>
              <a:t>Only 446 hand labels; weak labels inherit optical errors</a:t>
            </a:r>
            <a:endParaRPr lang="en-US" sz="1350" dirty="0"/>
          </a:p>
          <a:p>
            <a:pPr marL="342900" indent="-342900">
              <a:spcAft>
                <a:spcPts val="1000"/>
              </a:spcAft>
              <a:buSzPct val="100000"/>
              <a:buChar char="•"/>
            </a:pPr>
            <a:r>
              <a:rPr lang="en-US" sz="1350" dirty="0">
                <a:solidFill>
                  <a:srgbClr val="15242C"/>
                </a:solidFill>
                <a:latin typeface="Calibri" pitchFamily="34" charset="0"/>
                <a:ea typeface="Calibri" pitchFamily="34" charset="-122"/>
                <a:cs typeface="Calibri" pitchFamily="34" charset="-120"/>
              </a:rPr>
              <a:t>Optical-derived labels miss flooded vegetation</a:t>
            </a:r>
            <a:endParaRPr lang="en-US" sz="1350" dirty="0"/>
          </a:p>
        </p:txBody>
      </p:sp>
      <p:sp>
        <p:nvSpPr>
          <p:cNvPr id="12" name="Shape 10"/>
          <p:cNvSpPr/>
          <p:nvPr/>
        </p:nvSpPr>
        <p:spPr>
          <a:xfrm>
            <a:off x="8001000" y="1463040"/>
            <a:ext cx="3383280" cy="3291840"/>
          </a:xfrm>
          <a:prstGeom prst="roundRect">
            <a:avLst>
              <a:gd name="adj" fmla="val 2222"/>
            </a:avLst>
          </a:prstGeom>
          <a:solidFill>
            <a:srgbClr val="FFFFFF"/>
          </a:solidFill>
          <a:ln w="12700">
            <a:solidFill>
              <a:srgbClr val="E0912F"/>
            </a:solidFill>
            <a:prstDash val="solid"/>
          </a:ln>
        </p:spPr>
      </p:sp>
      <p:sp>
        <p:nvSpPr>
          <p:cNvPr id="13" name="Shape 11"/>
          <p:cNvSpPr/>
          <p:nvPr/>
        </p:nvSpPr>
        <p:spPr>
          <a:xfrm>
            <a:off x="8001000" y="1463040"/>
            <a:ext cx="3383280" cy="548640"/>
          </a:xfrm>
          <a:prstGeom prst="roundRect">
            <a:avLst>
              <a:gd name="adj" fmla="val 13333"/>
            </a:avLst>
          </a:prstGeom>
          <a:solidFill>
            <a:srgbClr val="E0912F"/>
          </a:solidFill>
          <a:ln/>
        </p:spPr>
      </p:sp>
      <p:sp>
        <p:nvSpPr>
          <p:cNvPr id="14" name="Text 12"/>
          <p:cNvSpPr txBox="1"/>
          <p:nvPr/>
        </p:nvSpPr>
        <p:spPr>
          <a:xfrm>
            <a:off x="8183880" y="1463040"/>
            <a:ext cx="301752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How we differ</a:t>
            </a:r>
            <a:endParaRPr lang="en-US" sz="1800" dirty="0"/>
          </a:p>
        </p:txBody>
      </p:sp>
      <p:sp>
        <p:nvSpPr>
          <p:cNvPr id="15" name="Text 13"/>
          <p:cNvSpPr txBox="1"/>
          <p:nvPr/>
        </p:nvSpPr>
        <p:spPr>
          <a:xfrm>
            <a:off x="8202168" y="2194560"/>
            <a:ext cx="3017520" cy="237744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15242C"/>
                </a:solidFill>
                <a:latin typeface="Calibri" pitchFamily="34" charset="0"/>
                <a:ea typeface="Calibri" pitchFamily="34" charset="-122"/>
                <a:cs typeface="Calibri" pitchFamily="34" charset="-120"/>
              </a:rPr>
              <a:t>We take their trained model somewhere it has never been: L-band</a:t>
            </a:r>
            <a:endParaRPr lang="en-US" sz="1350" dirty="0"/>
          </a:p>
          <a:p>
            <a:pPr marL="342900" indent="-342900">
              <a:spcAft>
                <a:spcPts val="1000"/>
              </a:spcAft>
              <a:buSzPct val="100000"/>
              <a:buChar char="•"/>
            </a:pPr>
            <a:r>
              <a:rPr lang="en-US" sz="1350" dirty="0">
                <a:solidFill>
                  <a:srgbClr val="15242C"/>
                </a:solidFill>
                <a:latin typeface="Calibri" pitchFamily="34" charset="0"/>
                <a:ea typeface="Calibri" pitchFamily="34" charset="-122"/>
                <a:cs typeface="Calibri" pitchFamily="34" charset="-120"/>
              </a:rPr>
              <a:t>We hand-label NISAR chips — a second sensor they never had</a:t>
            </a:r>
            <a:endParaRPr lang="en-US" sz="1350" dirty="0"/>
          </a:p>
          <a:p>
            <a:pPr marL="342900" indent="-342900">
              <a:spcAft>
                <a:spcPts val="1000"/>
              </a:spcAft>
              <a:buSzPct val="100000"/>
              <a:buChar char="•"/>
            </a:pPr>
            <a:r>
              <a:rPr lang="en-US" sz="1350" dirty="0">
                <a:solidFill>
                  <a:srgbClr val="15242C"/>
                </a:solidFill>
                <a:latin typeface="Calibri" pitchFamily="34" charset="0"/>
                <a:ea typeface="Calibri" pitchFamily="34" charset="-122"/>
                <a:cs typeface="Calibri" pitchFamily="34" charset="-120"/>
              </a:rPr>
              <a:t>We label flooded forest explicitly, where optical labels fail</a:t>
            </a:r>
            <a:endParaRPr lang="en-US" sz="1350" dirty="0"/>
          </a:p>
          <a:p>
            <a:pPr marL="342900" indent="-342900">
              <a:spcAft>
                <a:spcPts val="1000"/>
              </a:spcAft>
              <a:buSzPct val="100000"/>
              <a:buChar char="•"/>
            </a:pPr>
            <a:r>
              <a:rPr lang="en-US" sz="1350" dirty="0">
                <a:solidFill>
                  <a:srgbClr val="15242C"/>
                </a:solidFill>
                <a:latin typeface="Calibri" pitchFamily="34" charset="0"/>
                <a:ea typeface="Calibri" pitchFamily="34" charset="-122"/>
                <a:cs typeface="Calibri" pitchFamily="34" charset="-120"/>
              </a:rPr>
              <a:t>Their FCNN is our baseline, not our model (Dr. Chen: not U-Net)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94360"/>
          </a:xfrm>
          <a:prstGeom prst="rect">
            <a:avLst/>
          </a:prstGeom>
          <a:noFill/>
          <a:ln/>
        </p:spPr>
        <p:txBody>
          <a:bodyPr wrap="square" rtlCol="0" anchor="ctr"/>
          <a:lstStyle/>
          <a:p>
            <a:pPr indent="0" marL="0">
              <a:buNone/>
            </a:pPr>
            <a:r>
              <a:rPr lang="en-US" sz="3000" b="1" dirty="0">
                <a:solidFill>
                  <a:srgbClr val="0F3B57"/>
                </a:solidFill>
                <a:latin typeface="Cambria" pitchFamily="34" charset="0"/>
                <a:ea typeface="Cambria" pitchFamily="34" charset="-122"/>
                <a:cs typeface="Cambria" pitchFamily="34" charset="-120"/>
              </a:rPr>
              <a:t>Most relevant work 2 — DeepSARFlood</a:t>
            </a:r>
            <a:endParaRPr lang="en-US" sz="3000" dirty="0"/>
          </a:p>
        </p:txBody>
      </p:sp>
      <p:sp>
        <p:nvSpPr>
          <p:cNvPr id="3" name="Text 1"/>
          <p:cNvSpPr txBox="1"/>
          <p:nvPr/>
        </p:nvSpPr>
        <p:spPr>
          <a:xfrm>
            <a:off x="566928" y="914400"/>
            <a:ext cx="11064240" cy="347472"/>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Sharma &amp; Saharia, 2025 · the state of the art, and the source of our gap</a:t>
            </a:r>
            <a:endParaRPr lang="en-US" sz="1500" dirty="0"/>
          </a:p>
        </p:txBody>
      </p:sp>
      <p:sp>
        <p:nvSpPr>
          <p:cNvPr id="4" name="Shape 2"/>
          <p:cNvSpPr/>
          <p:nvPr/>
        </p:nvSpPr>
        <p:spPr>
          <a:xfrm>
            <a:off x="822960" y="1508760"/>
            <a:ext cx="10515600" cy="1024128"/>
          </a:xfrm>
          <a:prstGeom prst="roundRect">
            <a:avLst>
              <a:gd name="adj" fmla="val 7143"/>
            </a:avLst>
          </a:prstGeom>
          <a:solidFill>
            <a:srgbClr val="EDF3F6"/>
          </a:solidFill>
          <a:ln w="12700">
            <a:solidFill>
              <a:srgbClr val="D5E1E8"/>
            </a:solidFill>
            <a:prstDash val="solid"/>
          </a:ln>
        </p:spPr>
      </p:sp>
      <p:sp>
        <p:nvSpPr>
          <p:cNvPr id="5" name="Shape 3"/>
          <p:cNvSpPr/>
          <p:nvPr/>
        </p:nvSpPr>
        <p:spPr>
          <a:xfrm>
            <a:off x="1005840" y="1801368"/>
            <a:ext cx="1920240" cy="438912"/>
          </a:xfrm>
          <a:prstGeom prst="roundRect">
            <a:avLst>
              <a:gd name="adj" fmla="val 16667"/>
            </a:avLst>
          </a:prstGeom>
          <a:solidFill>
            <a:srgbClr val="3E7C59"/>
          </a:solidFill>
          <a:ln/>
        </p:spPr>
      </p:sp>
      <p:sp>
        <p:nvSpPr>
          <p:cNvPr id="6" name="Text 4"/>
          <p:cNvSpPr txBox="1"/>
          <p:nvPr/>
        </p:nvSpPr>
        <p:spPr>
          <a:xfrm>
            <a:off x="1005840" y="1801368"/>
            <a:ext cx="19202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Contributions</a:t>
            </a:r>
            <a:endParaRPr lang="en-US" sz="1400" dirty="0"/>
          </a:p>
        </p:txBody>
      </p:sp>
      <p:sp>
        <p:nvSpPr>
          <p:cNvPr id="7" name="Text 5"/>
          <p:cNvSpPr txBox="1"/>
          <p:nvPr/>
        </p:nvSpPr>
        <p:spPr>
          <a:xfrm>
            <a:off x="3200400" y="1673352"/>
            <a:ext cx="7863840" cy="713232"/>
          </a:xfrm>
          <a:prstGeom prst="rect">
            <a:avLst/>
          </a:prstGeom>
          <a:noFill/>
          <a:ln/>
        </p:spPr>
        <p:txBody>
          <a:bodyPr wrap="square" lIns="0" tIns="0" rIns="0" bIns="0" rtlCol="0" anchor="ctr"/>
          <a:lstStyle/>
          <a:p>
            <a:pPr indent="0" marL="0">
              <a:buNone/>
            </a:pPr>
            <a:r>
              <a:rPr lang="en-US" sz="1500" dirty="0">
                <a:solidFill>
                  <a:srgbClr val="15242C"/>
                </a:solidFill>
                <a:latin typeface="Calibri" pitchFamily="34" charset="0"/>
                <a:ea typeface="Calibri" pitchFamily="34" charset="-122"/>
                <a:cs typeface="Calibri" pitchFamily="34" charset="-120"/>
              </a:rPr>
              <a:t>Large-scale, near-real-time flood mapping from Sentinel-1 with a deep model; strong operational framing and validation.</a:t>
            </a:r>
            <a:endParaRPr lang="en-US" sz="1500" dirty="0"/>
          </a:p>
        </p:txBody>
      </p:sp>
      <p:sp>
        <p:nvSpPr>
          <p:cNvPr id="8" name="Shape 6"/>
          <p:cNvSpPr/>
          <p:nvPr/>
        </p:nvSpPr>
        <p:spPr>
          <a:xfrm>
            <a:off x="822960" y="2715768"/>
            <a:ext cx="10515600" cy="1024128"/>
          </a:xfrm>
          <a:prstGeom prst="roundRect">
            <a:avLst>
              <a:gd name="adj" fmla="val 7143"/>
            </a:avLst>
          </a:prstGeom>
          <a:solidFill>
            <a:srgbClr val="EDF3F6"/>
          </a:solidFill>
          <a:ln w="12700">
            <a:solidFill>
              <a:srgbClr val="D5E1E8"/>
            </a:solidFill>
            <a:prstDash val="solid"/>
          </a:ln>
        </p:spPr>
      </p:sp>
      <p:sp>
        <p:nvSpPr>
          <p:cNvPr id="9" name="Shape 7"/>
          <p:cNvSpPr/>
          <p:nvPr/>
        </p:nvSpPr>
        <p:spPr>
          <a:xfrm>
            <a:off x="1005840" y="3008376"/>
            <a:ext cx="1920240" cy="438912"/>
          </a:xfrm>
          <a:prstGeom prst="roundRect">
            <a:avLst>
              <a:gd name="adj" fmla="val 16667"/>
            </a:avLst>
          </a:prstGeom>
          <a:solidFill>
            <a:srgbClr val="A33B2A"/>
          </a:solidFill>
          <a:ln/>
        </p:spPr>
      </p:sp>
      <p:sp>
        <p:nvSpPr>
          <p:cNvPr id="10" name="Text 8"/>
          <p:cNvSpPr txBox="1"/>
          <p:nvPr/>
        </p:nvSpPr>
        <p:spPr>
          <a:xfrm>
            <a:off x="1005840" y="3008376"/>
            <a:ext cx="19202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Weaknesses</a:t>
            </a:r>
            <a:endParaRPr lang="en-US" sz="1400" dirty="0"/>
          </a:p>
        </p:txBody>
      </p:sp>
      <p:sp>
        <p:nvSpPr>
          <p:cNvPr id="11" name="Text 9"/>
          <p:cNvSpPr txBox="1"/>
          <p:nvPr/>
        </p:nvSpPr>
        <p:spPr>
          <a:xfrm>
            <a:off x="3200400" y="2880360"/>
            <a:ext cx="7863840" cy="713232"/>
          </a:xfrm>
          <a:prstGeom prst="rect">
            <a:avLst/>
          </a:prstGeom>
          <a:noFill/>
          <a:ln/>
        </p:spPr>
        <p:txBody>
          <a:bodyPr wrap="square" lIns="0" tIns="0" rIns="0" bIns="0" rtlCol="0" anchor="ctr"/>
          <a:lstStyle/>
          <a:p>
            <a:pPr indent="0" marL="0">
              <a:buNone/>
            </a:pPr>
            <a:r>
              <a:rPr lang="en-US" sz="1500" dirty="0">
                <a:solidFill>
                  <a:srgbClr val="15242C"/>
                </a:solidFill>
                <a:latin typeface="Calibri" pitchFamily="34" charset="0"/>
                <a:ea typeface="Calibri" pitchFamily="34" charset="-122"/>
                <a:cs typeface="Calibri" pitchFamily="34" charset="-120"/>
              </a:rPr>
              <a:t>Still single-band C-band. Urban double-bounce left as an open problem. Its NISAR claim is forward-looking — an expectation, never an experiment.</a:t>
            </a:r>
            <a:endParaRPr lang="en-US" sz="1500" dirty="0"/>
          </a:p>
        </p:txBody>
      </p:sp>
      <p:sp>
        <p:nvSpPr>
          <p:cNvPr id="12" name="Shape 10"/>
          <p:cNvSpPr/>
          <p:nvPr/>
        </p:nvSpPr>
        <p:spPr>
          <a:xfrm>
            <a:off x="822960" y="3922776"/>
            <a:ext cx="10515600" cy="1024128"/>
          </a:xfrm>
          <a:prstGeom prst="roundRect">
            <a:avLst>
              <a:gd name="adj" fmla="val 7143"/>
            </a:avLst>
          </a:prstGeom>
          <a:solidFill>
            <a:srgbClr val="FDF3E3"/>
          </a:solidFill>
          <a:ln w="12700">
            <a:solidFill>
              <a:srgbClr val="E0912F"/>
            </a:solidFill>
            <a:prstDash val="solid"/>
          </a:ln>
        </p:spPr>
      </p:sp>
      <p:sp>
        <p:nvSpPr>
          <p:cNvPr id="13" name="Shape 11"/>
          <p:cNvSpPr/>
          <p:nvPr/>
        </p:nvSpPr>
        <p:spPr>
          <a:xfrm>
            <a:off x="1005840" y="4215384"/>
            <a:ext cx="1920240" cy="438912"/>
          </a:xfrm>
          <a:prstGeom prst="roundRect">
            <a:avLst>
              <a:gd name="adj" fmla="val 16667"/>
            </a:avLst>
          </a:prstGeom>
          <a:solidFill>
            <a:srgbClr val="E0912F"/>
          </a:solidFill>
          <a:ln/>
        </p:spPr>
      </p:sp>
      <p:sp>
        <p:nvSpPr>
          <p:cNvPr id="14" name="Text 12"/>
          <p:cNvSpPr txBox="1"/>
          <p:nvPr/>
        </p:nvSpPr>
        <p:spPr>
          <a:xfrm>
            <a:off x="1005840" y="4215384"/>
            <a:ext cx="192024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How we differ</a:t>
            </a:r>
            <a:endParaRPr lang="en-US" sz="1400" dirty="0"/>
          </a:p>
        </p:txBody>
      </p:sp>
      <p:sp>
        <p:nvSpPr>
          <p:cNvPr id="15" name="Text 13"/>
          <p:cNvSpPr txBox="1"/>
          <p:nvPr/>
        </p:nvSpPr>
        <p:spPr>
          <a:xfrm>
            <a:off x="3200400" y="4087368"/>
            <a:ext cx="7863840" cy="713232"/>
          </a:xfrm>
          <a:prstGeom prst="rect">
            <a:avLst/>
          </a:prstGeom>
          <a:noFill/>
          <a:ln/>
        </p:spPr>
        <p:txBody>
          <a:bodyPr wrap="square" lIns="0" tIns="0" rIns="0" bIns="0" rtlCol="0" anchor="ctr"/>
          <a:lstStyle/>
          <a:p>
            <a:pPr indent="0" marL="0">
              <a:buNone/>
            </a:pPr>
            <a:r>
              <a:rPr lang="en-US" sz="1500" dirty="0">
                <a:solidFill>
                  <a:srgbClr val="15242C"/>
                </a:solidFill>
                <a:latin typeface="Calibri" pitchFamily="34" charset="0"/>
                <a:ea typeface="Calibri" pitchFamily="34" charset="-122"/>
                <a:cs typeface="Calibri" pitchFamily="34" charset="-120"/>
              </a:rPr>
              <a:t>The field’s best tool is positioned for NISAR on an untested assumption. We test it — with real L-band data, non-SAR ground truth, and a quantified fine-tuning curve.</a:t>
            </a:r>
            <a:endParaRPr lang="en-US" sz="1500" dirty="0"/>
          </a:p>
        </p:txBody>
      </p:sp>
      <p:sp>
        <p:nvSpPr>
          <p:cNvPr id="16" name="Shape 14"/>
          <p:cNvSpPr/>
          <p:nvPr/>
        </p:nvSpPr>
        <p:spPr>
          <a:xfrm>
            <a:off x="822960" y="5257800"/>
            <a:ext cx="10515600" cy="777240"/>
          </a:xfrm>
          <a:prstGeom prst="roundRect">
            <a:avLst>
              <a:gd name="adj" fmla="val 9412"/>
            </a:avLst>
          </a:prstGeom>
          <a:solidFill>
            <a:srgbClr val="E8EFF3"/>
          </a:solidFill>
          <a:ln w="12700">
            <a:solidFill>
              <a:srgbClr val="D5E1E8"/>
            </a:solidFill>
            <a:prstDash val="solid"/>
          </a:ln>
        </p:spPr>
      </p:sp>
      <p:sp>
        <p:nvSpPr>
          <p:cNvPr id="17" name="Text 15"/>
          <p:cNvSpPr txBox="1"/>
          <p:nvPr/>
        </p:nvSpPr>
        <p:spPr>
          <a:xfrm>
            <a:off x="1051560" y="5321808"/>
            <a:ext cx="10058400" cy="640080"/>
          </a:xfrm>
          <a:prstGeom prst="rect">
            <a:avLst/>
          </a:prstGeom>
          <a:noFill/>
          <a:ln/>
        </p:spPr>
        <p:txBody>
          <a:bodyPr wrap="square" lIns="0" tIns="0" rIns="0" bIns="0" rtlCol="0" anchor="ctr"/>
          <a:lstStyle/>
          <a:p>
            <a:pPr indent="0" marL="0">
              <a:buNone/>
            </a:pPr>
            <a:r>
              <a:rPr lang="en-US" sz="1500" b="1" dirty="0">
                <a:solidFill>
                  <a:srgbClr val="0F3B57"/>
                </a:solidFill>
                <a:latin typeface="Calibri" pitchFamily="34" charset="0"/>
                <a:ea typeface="Calibri" pitchFamily="34" charset="-122"/>
                <a:cs typeface="Calibri" pitchFamily="34" charset="-120"/>
              </a:rPr>
              <a:t>Our claim, precisely: the first measurement of how a Sentinel-1-trained flood model performs on real NISAR L-band data — and how much fine-tuning closes the gap.</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94360"/>
          </a:xfrm>
          <a:prstGeom prst="rect">
            <a:avLst/>
          </a:prstGeom>
          <a:noFill/>
          <a:ln/>
        </p:spPr>
        <p:txBody>
          <a:bodyPr wrap="square" rtlCol="0" anchor="ctr"/>
          <a:lstStyle/>
          <a:p>
            <a:pPr indent="0" marL="0">
              <a:buNone/>
            </a:pPr>
            <a:r>
              <a:rPr lang="en-US" sz="3000" b="1" dirty="0">
                <a:solidFill>
                  <a:srgbClr val="0F3B57"/>
                </a:solidFill>
                <a:latin typeface="Cambria" pitchFamily="34" charset="0"/>
                <a:ea typeface="Cambria" pitchFamily="34" charset="-122"/>
                <a:cs typeface="Cambria" pitchFamily="34" charset="-120"/>
              </a:rPr>
              <a:t>Why we expect a gap — the physics in one picture</a:t>
            </a:r>
            <a:endParaRPr lang="en-US" sz="3000" dirty="0"/>
          </a:p>
        </p:txBody>
      </p:sp>
      <p:sp>
        <p:nvSpPr>
          <p:cNvPr id="3" name="Text 1"/>
          <p:cNvSpPr txBox="1"/>
          <p:nvPr/>
        </p:nvSpPr>
        <p:spPr>
          <a:xfrm>
            <a:off x="566928" y="914400"/>
            <a:ext cx="11064240" cy="347472"/>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Short C-band waves bounce off the canopy. Long L-band waves reach the water under it.</a:t>
            </a:r>
            <a:endParaRPr lang="en-US" sz="1500" dirty="0"/>
          </a:p>
        </p:txBody>
      </p:sp>
      <p:sp>
        <p:nvSpPr>
          <p:cNvPr id="4" name="Shape 2"/>
          <p:cNvSpPr/>
          <p:nvPr/>
        </p:nvSpPr>
        <p:spPr>
          <a:xfrm>
            <a:off x="685800" y="1463040"/>
            <a:ext cx="5120640" cy="3200400"/>
          </a:xfrm>
          <a:prstGeom prst="roundRect">
            <a:avLst>
              <a:gd name="adj" fmla="val 2286"/>
            </a:avLst>
          </a:prstGeom>
          <a:solidFill>
            <a:srgbClr val="FFFFFF"/>
          </a:solidFill>
          <a:ln w="12700">
            <a:solidFill>
              <a:srgbClr val="1C7293"/>
            </a:solidFill>
            <a:prstDash val="solid"/>
          </a:ln>
        </p:spPr>
      </p:sp>
      <p:sp>
        <p:nvSpPr>
          <p:cNvPr id="5" name="Shape 3"/>
          <p:cNvSpPr/>
          <p:nvPr/>
        </p:nvSpPr>
        <p:spPr>
          <a:xfrm>
            <a:off x="685800" y="1463040"/>
            <a:ext cx="5120640" cy="502920"/>
          </a:xfrm>
          <a:prstGeom prst="roundRect">
            <a:avLst>
              <a:gd name="adj" fmla="val 14545"/>
            </a:avLst>
          </a:prstGeom>
          <a:solidFill>
            <a:srgbClr val="1C7293"/>
          </a:solidFill>
          <a:ln/>
        </p:spPr>
      </p:sp>
      <p:sp>
        <p:nvSpPr>
          <p:cNvPr id="6" name="Text 4"/>
          <p:cNvSpPr txBox="1"/>
          <p:nvPr/>
        </p:nvSpPr>
        <p:spPr>
          <a:xfrm>
            <a:off x="868680" y="1463040"/>
            <a:ext cx="4754880" cy="5029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C-band (Sentinel-1, ~5.6 cm)</a:t>
            </a:r>
            <a:endParaRPr lang="en-US" sz="1700" dirty="0"/>
          </a:p>
        </p:txBody>
      </p:sp>
      <p:sp>
        <p:nvSpPr>
          <p:cNvPr id="7" name="Text 5"/>
          <p:cNvSpPr txBox="1"/>
          <p:nvPr/>
        </p:nvSpPr>
        <p:spPr>
          <a:xfrm>
            <a:off x="868680" y="4160520"/>
            <a:ext cx="4754880" cy="365760"/>
          </a:xfrm>
          <a:prstGeom prst="rect">
            <a:avLst/>
          </a:prstGeom>
          <a:noFill/>
          <a:ln/>
        </p:spPr>
        <p:txBody>
          <a:bodyPr wrap="square" lIns="0" tIns="0" rIns="0" bIns="0" rtlCol="0" anchor="ctr"/>
          <a:lstStyle/>
          <a:p>
            <a:pPr indent="0" marL="0">
              <a:buNone/>
            </a:pPr>
            <a:r>
              <a:rPr lang="en-US" sz="1300" i="1" dirty="0">
                <a:solidFill>
                  <a:srgbClr val="5B6B73"/>
                </a:solidFill>
                <a:latin typeface="Calibri" pitchFamily="34" charset="0"/>
                <a:ea typeface="Calibri" pitchFamily="34" charset="-122"/>
                <a:cs typeface="Calibri" pitchFamily="34" charset="-120"/>
              </a:rPr>
              <a:t>Signal never reaches the water → flooded forest looks like dry forest.</a:t>
            </a:r>
            <a:endParaRPr lang="en-US" sz="1300" dirty="0"/>
          </a:p>
        </p:txBody>
      </p:sp>
      <p:sp>
        <p:nvSpPr>
          <p:cNvPr id="8" name="Shape 6"/>
          <p:cNvSpPr/>
          <p:nvPr/>
        </p:nvSpPr>
        <p:spPr>
          <a:xfrm>
            <a:off x="1600200" y="3246120"/>
            <a:ext cx="109728" cy="502920"/>
          </a:xfrm>
          <a:prstGeom prst="rect">
            <a:avLst/>
          </a:prstGeom>
          <a:solidFill>
            <a:srgbClr val="6B4B2A"/>
          </a:solidFill>
          <a:ln/>
        </p:spPr>
      </p:sp>
      <p:sp>
        <p:nvSpPr>
          <p:cNvPr id="9" name="Shape 7"/>
          <p:cNvSpPr/>
          <p:nvPr/>
        </p:nvSpPr>
        <p:spPr>
          <a:xfrm>
            <a:off x="1371600" y="2743200"/>
            <a:ext cx="658368" cy="566928"/>
          </a:xfrm>
          <a:prstGeom prst="ellipse">
            <a:avLst/>
          </a:prstGeom>
          <a:solidFill>
            <a:srgbClr val="3E7C59"/>
          </a:solidFill>
          <a:ln/>
        </p:spPr>
      </p:sp>
      <p:sp>
        <p:nvSpPr>
          <p:cNvPr id="10" name="Shape 8"/>
          <p:cNvSpPr/>
          <p:nvPr/>
        </p:nvSpPr>
        <p:spPr>
          <a:xfrm>
            <a:off x="2514600" y="3246120"/>
            <a:ext cx="109728" cy="502920"/>
          </a:xfrm>
          <a:prstGeom prst="rect">
            <a:avLst/>
          </a:prstGeom>
          <a:solidFill>
            <a:srgbClr val="6B4B2A"/>
          </a:solidFill>
          <a:ln/>
        </p:spPr>
      </p:sp>
      <p:sp>
        <p:nvSpPr>
          <p:cNvPr id="11" name="Shape 9"/>
          <p:cNvSpPr/>
          <p:nvPr/>
        </p:nvSpPr>
        <p:spPr>
          <a:xfrm>
            <a:off x="2286000" y="2743200"/>
            <a:ext cx="658368" cy="566928"/>
          </a:xfrm>
          <a:prstGeom prst="ellipse">
            <a:avLst/>
          </a:prstGeom>
          <a:solidFill>
            <a:srgbClr val="3E7C59"/>
          </a:solidFill>
          <a:ln/>
        </p:spPr>
      </p:sp>
      <p:sp>
        <p:nvSpPr>
          <p:cNvPr id="12" name="Shape 10"/>
          <p:cNvSpPr/>
          <p:nvPr/>
        </p:nvSpPr>
        <p:spPr>
          <a:xfrm>
            <a:off x="3429000" y="3246120"/>
            <a:ext cx="109728" cy="502920"/>
          </a:xfrm>
          <a:prstGeom prst="rect">
            <a:avLst/>
          </a:prstGeom>
          <a:solidFill>
            <a:srgbClr val="6B4B2A"/>
          </a:solidFill>
          <a:ln/>
        </p:spPr>
      </p:sp>
      <p:sp>
        <p:nvSpPr>
          <p:cNvPr id="13" name="Shape 11"/>
          <p:cNvSpPr/>
          <p:nvPr/>
        </p:nvSpPr>
        <p:spPr>
          <a:xfrm>
            <a:off x="3200400" y="2743200"/>
            <a:ext cx="658368" cy="566928"/>
          </a:xfrm>
          <a:prstGeom prst="ellipse">
            <a:avLst/>
          </a:prstGeom>
          <a:solidFill>
            <a:srgbClr val="3E7C59"/>
          </a:solidFill>
          <a:ln/>
        </p:spPr>
      </p:sp>
      <p:sp>
        <p:nvSpPr>
          <p:cNvPr id="14" name="Shape 12"/>
          <p:cNvSpPr/>
          <p:nvPr/>
        </p:nvSpPr>
        <p:spPr>
          <a:xfrm>
            <a:off x="4343400" y="3246120"/>
            <a:ext cx="109728" cy="502920"/>
          </a:xfrm>
          <a:prstGeom prst="rect">
            <a:avLst/>
          </a:prstGeom>
          <a:solidFill>
            <a:srgbClr val="6B4B2A"/>
          </a:solidFill>
          <a:ln/>
        </p:spPr>
      </p:sp>
      <p:sp>
        <p:nvSpPr>
          <p:cNvPr id="15" name="Shape 13"/>
          <p:cNvSpPr/>
          <p:nvPr/>
        </p:nvSpPr>
        <p:spPr>
          <a:xfrm>
            <a:off x="4114800" y="2743200"/>
            <a:ext cx="658368" cy="566928"/>
          </a:xfrm>
          <a:prstGeom prst="ellipse">
            <a:avLst/>
          </a:prstGeom>
          <a:solidFill>
            <a:srgbClr val="3E7C59"/>
          </a:solidFill>
          <a:ln/>
        </p:spPr>
      </p:sp>
      <p:sp>
        <p:nvSpPr>
          <p:cNvPr id="16" name="Shape 14"/>
          <p:cNvSpPr/>
          <p:nvPr/>
        </p:nvSpPr>
        <p:spPr>
          <a:xfrm>
            <a:off x="1005840" y="3749040"/>
            <a:ext cx="4480560" cy="256032"/>
          </a:xfrm>
          <a:prstGeom prst="rect">
            <a:avLst/>
          </a:prstGeom>
          <a:solidFill>
            <a:srgbClr val="2C6FA6"/>
          </a:solidFill>
          <a:ln/>
        </p:spPr>
      </p:sp>
      <p:sp>
        <p:nvSpPr>
          <p:cNvPr id="17" name="Text 15"/>
          <p:cNvSpPr txBox="1"/>
          <p:nvPr/>
        </p:nvSpPr>
        <p:spPr>
          <a:xfrm>
            <a:off x="1051560" y="3749040"/>
            <a:ext cx="91440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water</a:t>
            </a:r>
            <a:endParaRPr lang="en-US" sz="1000" dirty="0"/>
          </a:p>
        </p:txBody>
      </p:sp>
      <p:sp>
        <p:nvSpPr>
          <p:cNvPr id="18" name="Shape 16"/>
          <p:cNvSpPr/>
          <p:nvPr/>
        </p:nvSpPr>
        <p:spPr>
          <a:xfrm>
            <a:off x="1097280" y="2148840"/>
            <a:ext cx="1005840" cy="640080"/>
          </a:xfrm>
          <a:prstGeom prst="line">
            <a:avLst/>
          </a:prstGeom>
          <a:noFill/>
          <a:ln w="31750">
            <a:solidFill>
              <a:srgbClr val="0F3B57"/>
            </a:solidFill>
            <a:prstDash val="solid"/>
            <a:tailEnd type="triangle"/>
          </a:ln>
        </p:spPr>
      </p:sp>
      <p:sp>
        <p:nvSpPr>
          <p:cNvPr id="19" name="Shape 17"/>
          <p:cNvSpPr/>
          <p:nvPr/>
        </p:nvSpPr>
        <p:spPr>
          <a:xfrm flipH="1">
            <a:off x="2148840" y="2148840"/>
            <a:ext cx="1005840" cy="640080"/>
          </a:xfrm>
          <a:prstGeom prst="line">
            <a:avLst/>
          </a:prstGeom>
          <a:noFill/>
          <a:ln w="31750">
            <a:solidFill>
              <a:srgbClr val="0F3B57"/>
            </a:solidFill>
            <a:prstDash val="solid"/>
            <a:headEnd type="triangle"/>
          </a:ln>
        </p:spPr>
      </p:sp>
      <p:sp>
        <p:nvSpPr>
          <p:cNvPr id="20" name="Text 18"/>
          <p:cNvSpPr txBox="1"/>
          <p:nvPr/>
        </p:nvSpPr>
        <p:spPr>
          <a:xfrm>
            <a:off x="3291840" y="2103120"/>
            <a:ext cx="2286000" cy="320040"/>
          </a:xfrm>
          <a:prstGeom prst="rect">
            <a:avLst/>
          </a:prstGeom>
          <a:noFill/>
          <a:ln/>
        </p:spPr>
        <p:txBody>
          <a:bodyPr wrap="square" lIns="0" tIns="0" rIns="0" bIns="0" rtlCol="0" anchor="ctr"/>
          <a:lstStyle/>
          <a:p>
            <a:pPr indent="0" marL="0">
              <a:buNone/>
            </a:pPr>
            <a:r>
              <a:rPr lang="en-US" sz="1200" dirty="0">
                <a:solidFill>
                  <a:srgbClr val="0F3B57"/>
                </a:solidFill>
                <a:latin typeface="Calibri" pitchFamily="34" charset="0"/>
                <a:ea typeface="Calibri" pitchFamily="34" charset="-122"/>
                <a:cs typeface="Calibri" pitchFamily="34" charset="-120"/>
              </a:rPr>
              <a:t>bounces off the canopy</a:t>
            </a:r>
            <a:endParaRPr lang="en-US" sz="1200" dirty="0"/>
          </a:p>
        </p:txBody>
      </p:sp>
      <p:sp>
        <p:nvSpPr>
          <p:cNvPr id="21" name="Shape 19"/>
          <p:cNvSpPr/>
          <p:nvPr/>
        </p:nvSpPr>
        <p:spPr>
          <a:xfrm>
            <a:off x="6400800" y="1463040"/>
            <a:ext cx="5120640" cy="3200400"/>
          </a:xfrm>
          <a:prstGeom prst="roundRect">
            <a:avLst>
              <a:gd name="adj" fmla="val 2286"/>
            </a:avLst>
          </a:prstGeom>
          <a:solidFill>
            <a:srgbClr val="FFFFFF"/>
          </a:solidFill>
          <a:ln w="12700">
            <a:solidFill>
              <a:srgbClr val="0F3B57"/>
            </a:solidFill>
            <a:prstDash val="solid"/>
          </a:ln>
        </p:spPr>
      </p:sp>
      <p:sp>
        <p:nvSpPr>
          <p:cNvPr id="22" name="Shape 20"/>
          <p:cNvSpPr/>
          <p:nvPr/>
        </p:nvSpPr>
        <p:spPr>
          <a:xfrm>
            <a:off x="6400800" y="1463040"/>
            <a:ext cx="5120640" cy="502920"/>
          </a:xfrm>
          <a:prstGeom prst="roundRect">
            <a:avLst>
              <a:gd name="adj" fmla="val 14545"/>
            </a:avLst>
          </a:prstGeom>
          <a:solidFill>
            <a:srgbClr val="0F3B57"/>
          </a:solidFill>
          <a:ln/>
        </p:spPr>
      </p:sp>
      <p:sp>
        <p:nvSpPr>
          <p:cNvPr id="23" name="Text 21"/>
          <p:cNvSpPr txBox="1"/>
          <p:nvPr/>
        </p:nvSpPr>
        <p:spPr>
          <a:xfrm>
            <a:off x="6583680" y="1463040"/>
            <a:ext cx="4754880" cy="5029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L-band (NISAR, ~24 cm)</a:t>
            </a:r>
            <a:endParaRPr lang="en-US" sz="1700" dirty="0"/>
          </a:p>
        </p:txBody>
      </p:sp>
      <p:sp>
        <p:nvSpPr>
          <p:cNvPr id="24" name="Text 22"/>
          <p:cNvSpPr txBox="1"/>
          <p:nvPr/>
        </p:nvSpPr>
        <p:spPr>
          <a:xfrm>
            <a:off x="6583680" y="4160520"/>
            <a:ext cx="4754880" cy="365760"/>
          </a:xfrm>
          <a:prstGeom prst="rect">
            <a:avLst/>
          </a:prstGeom>
          <a:noFill/>
          <a:ln/>
        </p:spPr>
        <p:txBody>
          <a:bodyPr wrap="square" lIns="0" tIns="0" rIns="0" bIns="0" rtlCol="0" anchor="ctr"/>
          <a:lstStyle/>
          <a:p>
            <a:pPr indent="0" marL="0">
              <a:buNone/>
            </a:pPr>
            <a:r>
              <a:rPr lang="en-US" sz="1300" i="1" dirty="0">
                <a:solidFill>
                  <a:srgbClr val="5B6B73"/>
                </a:solidFill>
                <a:latin typeface="Calibri" pitchFamily="34" charset="0"/>
                <a:ea typeface="Calibri" pitchFamily="34" charset="-122"/>
                <a:cs typeface="Calibri" pitchFamily="34" charset="-120"/>
              </a:rPr>
              <a:t>Water + trunk = double bounce → flooded forest looks bright.</a:t>
            </a:r>
            <a:endParaRPr lang="en-US" sz="1300" dirty="0"/>
          </a:p>
        </p:txBody>
      </p:sp>
      <p:sp>
        <p:nvSpPr>
          <p:cNvPr id="25" name="Shape 23"/>
          <p:cNvSpPr/>
          <p:nvPr/>
        </p:nvSpPr>
        <p:spPr>
          <a:xfrm>
            <a:off x="7315200" y="3246120"/>
            <a:ext cx="109728" cy="502920"/>
          </a:xfrm>
          <a:prstGeom prst="rect">
            <a:avLst/>
          </a:prstGeom>
          <a:solidFill>
            <a:srgbClr val="6B4B2A"/>
          </a:solidFill>
          <a:ln/>
        </p:spPr>
      </p:sp>
      <p:sp>
        <p:nvSpPr>
          <p:cNvPr id="26" name="Shape 24"/>
          <p:cNvSpPr/>
          <p:nvPr/>
        </p:nvSpPr>
        <p:spPr>
          <a:xfrm>
            <a:off x="7086600" y="2743200"/>
            <a:ext cx="658368" cy="566928"/>
          </a:xfrm>
          <a:prstGeom prst="ellipse">
            <a:avLst/>
          </a:prstGeom>
          <a:solidFill>
            <a:srgbClr val="3E7C59"/>
          </a:solidFill>
          <a:ln/>
        </p:spPr>
      </p:sp>
      <p:sp>
        <p:nvSpPr>
          <p:cNvPr id="27" name="Shape 25"/>
          <p:cNvSpPr/>
          <p:nvPr/>
        </p:nvSpPr>
        <p:spPr>
          <a:xfrm>
            <a:off x="8229600" y="3246120"/>
            <a:ext cx="109728" cy="502920"/>
          </a:xfrm>
          <a:prstGeom prst="rect">
            <a:avLst/>
          </a:prstGeom>
          <a:solidFill>
            <a:srgbClr val="6B4B2A"/>
          </a:solidFill>
          <a:ln/>
        </p:spPr>
      </p:sp>
      <p:sp>
        <p:nvSpPr>
          <p:cNvPr id="28" name="Shape 26"/>
          <p:cNvSpPr/>
          <p:nvPr/>
        </p:nvSpPr>
        <p:spPr>
          <a:xfrm>
            <a:off x="8001000" y="2743200"/>
            <a:ext cx="658368" cy="566928"/>
          </a:xfrm>
          <a:prstGeom prst="ellipse">
            <a:avLst/>
          </a:prstGeom>
          <a:solidFill>
            <a:srgbClr val="3E7C59"/>
          </a:solidFill>
          <a:ln/>
        </p:spPr>
      </p:sp>
      <p:sp>
        <p:nvSpPr>
          <p:cNvPr id="29" name="Shape 27"/>
          <p:cNvSpPr/>
          <p:nvPr/>
        </p:nvSpPr>
        <p:spPr>
          <a:xfrm>
            <a:off x="9144000" y="3246120"/>
            <a:ext cx="109728" cy="502920"/>
          </a:xfrm>
          <a:prstGeom prst="rect">
            <a:avLst/>
          </a:prstGeom>
          <a:solidFill>
            <a:srgbClr val="6B4B2A"/>
          </a:solidFill>
          <a:ln/>
        </p:spPr>
      </p:sp>
      <p:sp>
        <p:nvSpPr>
          <p:cNvPr id="30" name="Shape 28"/>
          <p:cNvSpPr/>
          <p:nvPr/>
        </p:nvSpPr>
        <p:spPr>
          <a:xfrm>
            <a:off x="8915400" y="2743200"/>
            <a:ext cx="658368" cy="566928"/>
          </a:xfrm>
          <a:prstGeom prst="ellipse">
            <a:avLst/>
          </a:prstGeom>
          <a:solidFill>
            <a:srgbClr val="3E7C59"/>
          </a:solidFill>
          <a:ln/>
        </p:spPr>
      </p:sp>
      <p:sp>
        <p:nvSpPr>
          <p:cNvPr id="31" name="Shape 29"/>
          <p:cNvSpPr/>
          <p:nvPr/>
        </p:nvSpPr>
        <p:spPr>
          <a:xfrm>
            <a:off x="10058400" y="3246120"/>
            <a:ext cx="109728" cy="502920"/>
          </a:xfrm>
          <a:prstGeom prst="rect">
            <a:avLst/>
          </a:prstGeom>
          <a:solidFill>
            <a:srgbClr val="6B4B2A"/>
          </a:solidFill>
          <a:ln/>
        </p:spPr>
      </p:sp>
      <p:sp>
        <p:nvSpPr>
          <p:cNvPr id="32" name="Shape 30"/>
          <p:cNvSpPr/>
          <p:nvPr/>
        </p:nvSpPr>
        <p:spPr>
          <a:xfrm>
            <a:off x="9829800" y="2743200"/>
            <a:ext cx="658368" cy="566928"/>
          </a:xfrm>
          <a:prstGeom prst="ellipse">
            <a:avLst/>
          </a:prstGeom>
          <a:solidFill>
            <a:srgbClr val="3E7C59"/>
          </a:solidFill>
          <a:ln/>
        </p:spPr>
      </p:sp>
      <p:sp>
        <p:nvSpPr>
          <p:cNvPr id="33" name="Shape 31"/>
          <p:cNvSpPr/>
          <p:nvPr/>
        </p:nvSpPr>
        <p:spPr>
          <a:xfrm>
            <a:off x="6720840" y="3749040"/>
            <a:ext cx="4480560" cy="256032"/>
          </a:xfrm>
          <a:prstGeom prst="rect">
            <a:avLst/>
          </a:prstGeom>
          <a:solidFill>
            <a:srgbClr val="2C6FA6"/>
          </a:solidFill>
          <a:ln/>
        </p:spPr>
      </p:sp>
      <p:sp>
        <p:nvSpPr>
          <p:cNvPr id="34" name="Text 32"/>
          <p:cNvSpPr txBox="1"/>
          <p:nvPr/>
        </p:nvSpPr>
        <p:spPr>
          <a:xfrm>
            <a:off x="6766560" y="3749040"/>
            <a:ext cx="914400"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water</a:t>
            </a:r>
            <a:endParaRPr lang="en-US" sz="1000" dirty="0"/>
          </a:p>
        </p:txBody>
      </p:sp>
      <p:sp>
        <p:nvSpPr>
          <p:cNvPr id="35" name="Shape 33"/>
          <p:cNvSpPr/>
          <p:nvPr/>
        </p:nvSpPr>
        <p:spPr>
          <a:xfrm>
            <a:off x="6858000" y="2148840"/>
            <a:ext cx="1234440" cy="1600200"/>
          </a:xfrm>
          <a:prstGeom prst="line">
            <a:avLst/>
          </a:prstGeom>
          <a:noFill/>
          <a:ln w="31750">
            <a:solidFill>
              <a:srgbClr val="E0912F"/>
            </a:solidFill>
            <a:prstDash val="solid"/>
            <a:tailEnd type="triangle"/>
          </a:ln>
        </p:spPr>
      </p:sp>
      <p:sp>
        <p:nvSpPr>
          <p:cNvPr id="36" name="Shape 34"/>
          <p:cNvSpPr/>
          <p:nvPr/>
        </p:nvSpPr>
        <p:spPr>
          <a:xfrm>
            <a:off x="8092440" y="3611880"/>
            <a:ext cx="1051560" cy="137160"/>
          </a:xfrm>
          <a:prstGeom prst="line">
            <a:avLst/>
          </a:prstGeom>
          <a:noFill/>
          <a:ln w="31750">
            <a:solidFill>
              <a:srgbClr val="E0912F"/>
            </a:solidFill>
            <a:prstDash val="solid"/>
            <a:tailEnd type="triangle"/>
          </a:ln>
        </p:spPr>
      </p:sp>
      <p:sp>
        <p:nvSpPr>
          <p:cNvPr id="37" name="Shape 35"/>
          <p:cNvSpPr/>
          <p:nvPr/>
        </p:nvSpPr>
        <p:spPr>
          <a:xfrm flipV="1">
            <a:off x="9144000" y="2148840"/>
            <a:ext cx="18288" cy="1463040"/>
          </a:xfrm>
          <a:prstGeom prst="line">
            <a:avLst/>
          </a:prstGeom>
          <a:noFill/>
          <a:ln w="31750">
            <a:solidFill>
              <a:srgbClr val="E0912F"/>
            </a:solidFill>
            <a:prstDash val="solid"/>
            <a:tailEnd type="triangle"/>
          </a:ln>
        </p:spPr>
      </p:sp>
      <p:sp>
        <p:nvSpPr>
          <p:cNvPr id="38" name="Text 36"/>
          <p:cNvSpPr txBox="1"/>
          <p:nvPr/>
        </p:nvSpPr>
        <p:spPr>
          <a:xfrm>
            <a:off x="9464040" y="2148840"/>
            <a:ext cx="1783080" cy="548640"/>
          </a:xfrm>
          <a:prstGeom prst="rect">
            <a:avLst/>
          </a:prstGeom>
          <a:noFill/>
          <a:ln/>
        </p:spPr>
        <p:txBody>
          <a:bodyPr wrap="square" lIns="0" tIns="0" rIns="0" bIns="0" rtlCol="0" anchor="ctr"/>
          <a:lstStyle/>
          <a:p>
            <a:pPr indent="0" marL="0">
              <a:buNone/>
            </a:pPr>
            <a:r>
              <a:rPr lang="en-US" sz="1200" dirty="0">
                <a:solidFill>
                  <a:srgbClr val="0F3B57"/>
                </a:solidFill>
                <a:latin typeface="Calibri" pitchFamily="34" charset="0"/>
                <a:ea typeface="Calibri" pitchFamily="34" charset="-122"/>
                <a:cs typeface="Calibri" pitchFamily="34" charset="-120"/>
              </a:rPr>
              <a:t>“bank shot”: water → trunk → back up</a:t>
            </a:r>
            <a:endParaRPr lang="en-US" sz="1200" dirty="0"/>
          </a:p>
        </p:txBody>
      </p:sp>
      <p:sp>
        <p:nvSpPr>
          <p:cNvPr id="39" name="Text 37"/>
          <p:cNvSpPr txBox="1"/>
          <p:nvPr/>
        </p:nvSpPr>
        <p:spPr>
          <a:xfrm>
            <a:off x="685800" y="4892040"/>
            <a:ext cx="10607040" cy="411480"/>
          </a:xfrm>
          <a:prstGeom prst="rect">
            <a:avLst/>
          </a:prstGeom>
          <a:noFill/>
          <a:ln/>
        </p:spPr>
        <p:txBody>
          <a:bodyPr wrap="square" lIns="0" tIns="0" rIns="0" bIns="0" rtlCol="0" anchor="ctr"/>
          <a:lstStyle/>
          <a:p>
            <a:pPr indent="0" marL="0">
              <a:buNone/>
            </a:pPr>
            <a:r>
              <a:rPr lang="en-US" sz="1500" b="1" dirty="0">
                <a:solidFill>
                  <a:srgbClr val="0F3B57"/>
                </a:solidFill>
                <a:latin typeface="Calibri" pitchFamily="34" charset="0"/>
                <a:ea typeface="Calibri" pitchFamily="34" charset="-122"/>
                <a:cs typeface="Calibri" pitchFamily="34" charset="-120"/>
              </a:rPr>
              <a:t>So we predict the biggest accuracy drop on flooded forest — not on open water. Research question 1 tests exactly that.</a:t>
            </a:r>
            <a:endParaRPr lang="en-US" sz="1500" dirty="0"/>
          </a:p>
        </p:txBody>
      </p:sp>
      <p:sp>
        <p:nvSpPr>
          <p:cNvPr id="40" name="Text 38"/>
          <p:cNvSpPr txBox="1"/>
          <p:nvPr/>
        </p:nvSpPr>
        <p:spPr>
          <a:xfrm>
            <a:off x="685800" y="5349240"/>
            <a:ext cx="10607040" cy="640080"/>
          </a:xfrm>
          <a:prstGeom prst="rect">
            <a:avLst/>
          </a:prstGeom>
          <a:noFill/>
          <a:ln/>
        </p:spPr>
        <p:txBody>
          <a:bodyPr wrap="square" lIns="0" tIns="0" rIns="0" bIns="0" rtlCol="0" anchor="ctr"/>
          <a:lstStyle/>
          <a:p>
            <a:pPr indent="0" marL="0">
              <a:buNone/>
            </a:pPr>
            <a:r>
              <a:rPr lang="en-US" sz="1350" dirty="0">
                <a:solidFill>
                  <a:srgbClr val="5B6B73"/>
                </a:solidFill>
                <a:latin typeface="Calibri" pitchFamily="34" charset="0"/>
                <a:ea typeface="Calibri" pitchFamily="34" charset="-122"/>
                <a:cs typeface="Calibri" pitchFamily="34" charset="-120"/>
              </a:rPr>
              <a:t>Second confound we must separate: NISAR is HH/HV, Sentinel-1 is VV/VH — the channels do not map one-to-one. A band-swap ablation on Sentinel-1 bounds how much of the gap is polarization alone.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94360"/>
          </a:xfrm>
          <a:prstGeom prst="rect">
            <a:avLst/>
          </a:prstGeom>
          <a:noFill/>
          <a:ln/>
        </p:spPr>
        <p:txBody>
          <a:bodyPr wrap="square" rtlCol="0" anchor="ctr"/>
          <a:lstStyle/>
          <a:p>
            <a:pPr indent="0" marL="0">
              <a:buNone/>
            </a:pPr>
            <a:r>
              <a:rPr lang="en-US" sz="3000" b="1" dirty="0">
                <a:solidFill>
                  <a:srgbClr val="0F3B57"/>
                </a:solidFill>
                <a:latin typeface="Cambria" pitchFamily="34" charset="0"/>
                <a:ea typeface="Cambria" pitchFamily="34" charset="-122"/>
                <a:cs typeface="Cambria" pitchFamily="34" charset="-120"/>
              </a:rPr>
              <a:t>Effort estimate 1 — re-implementing the most relevant work</a:t>
            </a:r>
            <a:endParaRPr lang="en-US" sz="3000" dirty="0"/>
          </a:p>
        </p:txBody>
      </p:sp>
      <p:sp>
        <p:nvSpPr>
          <p:cNvPr id="3" name="Text 1"/>
          <p:cNvSpPr txBox="1"/>
          <p:nvPr/>
        </p:nvSpPr>
        <p:spPr>
          <a:xfrm>
            <a:off x="566928" y="914400"/>
            <a:ext cx="11064240" cy="347472"/>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Sen1Floods11 baseline, hand-labelled split only (446 chips, ~1 GB)</a:t>
            </a:r>
            <a:endParaRPr lang="en-US" sz="1500" dirty="0"/>
          </a:p>
        </p:txBody>
      </p:sp>
      <p:sp>
        <p:nvSpPr>
          <p:cNvPr id="4" name="Shape 2"/>
          <p:cNvSpPr/>
          <p:nvPr/>
        </p:nvSpPr>
        <p:spPr>
          <a:xfrm>
            <a:off x="822960" y="1463040"/>
            <a:ext cx="6949440" cy="475488"/>
          </a:xfrm>
          <a:prstGeom prst="rect">
            <a:avLst/>
          </a:prstGeom>
          <a:solidFill>
            <a:srgbClr val="EDF3F6"/>
          </a:solidFill>
          <a:ln w="12700">
            <a:solidFill>
              <a:srgbClr val="E2EAEF"/>
            </a:solidFill>
            <a:prstDash val="solid"/>
          </a:ln>
        </p:spPr>
      </p:sp>
      <p:sp>
        <p:nvSpPr>
          <p:cNvPr id="5" name="Text 3"/>
          <p:cNvSpPr txBox="1"/>
          <p:nvPr/>
        </p:nvSpPr>
        <p:spPr>
          <a:xfrm>
            <a:off x="1005840" y="1463040"/>
            <a:ext cx="5120640" cy="475488"/>
          </a:xfrm>
          <a:prstGeom prst="rect">
            <a:avLst/>
          </a:prstGeom>
          <a:noFill/>
          <a:ln/>
        </p:spPr>
        <p:txBody>
          <a:bodyPr wrap="square" lIns="0" tIns="0" rIns="0" bIns="0" rtlCol="0" anchor="ctr"/>
          <a:lstStyle/>
          <a:p>
            <a:pPr indent="0" marL="0">
              <a:buNone/>
            </a:pPr>
            <a:r>
              <a:rPr lang="en-US" sz="1350" dirty="0">
                <a:solidFill>
                  <a:srgbClr val="15242C"/>
                </a:solidFill>
                <a:latin typeface="Calibri" pitchFamily="34" charset="0"/>
                <a:ea typeface="Calibri" pitchFamily="34" charset="-122"/>
                <a:cs typeface="Calibri" pitchFamily="34" charset="-120"/>
              </a:rPr>
              <a:t>Data access, GeoTIFF loading, nodata handling</a:t>
            </a:r>
            <a:endParaRPr lang="en-US" sz="1350" dirty="0"/>
          </a:p>
        </p:txBody>
      </p:sp>
      <p:sp>
        <p:nvSpPr>
          <p:cNvPr id="6" name="Text 4"/>
          <p:cNvSpPr txBox="1"/>
          <p:nvPr/>
        </p:nvSpPr>
        <p:spPr>
          <a:xfrm>
            <a:off x="6217920" y="1463040"/>
            <a:ext cx="1371600" cy="475488"/>
          </a:xfrm>
          <a:prstGeom prst="rect">
            <a:avLst/>
          </a:prstGeom>
          <a:noFill/>
          <a:ln/>
        </p:spPr>
        <p:txBody>
          <a:bodyPr wrap="square" lIns="0" tIns="0" rIns="0" bIns="0" rtlCol="0" anchor="ctr"/>
          <a:lstStyle/>
          <a:p>
            <a:pPr algn="r" indent="0" marL="0">
              <a:buNone/>
            </a:pPr>
            <a:r>
              <a:rPr lang="en-US" sz="1350" b="1" dirty="0">
                <a:solidFill>
                  <a:srgbClr val="1C7293"/>
                </a:solidFill>
                <a:latin typeface="Calibri" pitchFamily="34" charset="0"/>
                <a:ea typeface="Calibri" pitchFamily="34" charset="-122"/>
                <a:cs typeface="Calibri" pitchFamily="34" charset="-120"/>
              </a:rPr>
              <a:t>4–6 h</a:t>
            </a:r>
            <a:endParaRPr lang="en-US" sz="1350" dirty="0"/>
          </a:p>
        </p:txBody>
      </p:sp>
      <p:sp>
        <p:nvSpPr>
          <p:cNvPr id="7" name="Shape 5"/>
          <p:cNvSpPr/>
          <p:nvPr/>
        </p:nvSpPr>
        <p:spPr>
          <a:xfrm>
            <a:off x="822960" y="2011680"/>
            <a:ext cx="6949440" cy="475488"/>
          </a:xfrm>
          <a:prstGeom prst="rect">
            <a:avLst/>
          </a:prstGeom>
          <a:solidFill>
            <a:srgbClr val="FFFFFF"/>
          </a:solidFill>
          <a:ln w="12700">
            <a:solidFill>
              <a:srgbClr val="E2EAEF"/>
            </a:solidFill>
            <a:prstDash val="solid"/>
          </a:ln>
        </p:spPr>
      </p:sp>
      <p:sp>
        <p:nvSpPr>
          <p:cNvPr id="8" name="Text 6"/>
          <p:cNvSpPr txBox="1"/>
          <p:nvPr/>
        </p:nvSpPr>
        <p:spPr>
          <a:xfrm>
            <a:off x="1005840" y="2011680"/>
            <a:ext cx="5120640" cy="475488"/>
          </a:xfrm>
          <a:prstGeom prst="rect">
            <a:avLst/>
          </a:prstGeom>
          <a:noFill/>
          <a:ln/>
        </p:spPr>
        <p:txBody>
          <a:bodyPr wrap="square" lIns="0" tIns="0" rIns="0" bIns="0" rtlCol="0" anchor="ctr"/>
          <a:lstStyle/>
          <a:p>
            <a:pPr indent="0" marL="0">
              <a:buNone/>
            </a:pPr>
            <a:r>
              <a:rPr lang="en-US" sz="1350" dirty="0">
                <a:solidFill>
                  <a:srgbClr val="15242C"/>
                </a:solidFill>
                <a:latin typeface="Calibri" pitchFamily="34" charset="0"/>
                <a:ea typeface="Calibri" pitchFamily="34" charset="-122"/>
                <a:cs typeface="Calibri" pitchFamily="34" charset="-120"/>
              </a:rPr>
              <a:t>Dataloader, dB conversion, normalisation, splits</a:t>
            </a:r>
            <a:endParaRPr lang="en-US" sz="1350" dirty="0"/>
          </a:p>
        </p:txBody>
      </p:sp>
      <p:sp>
        <p:nvSpPr>
          <p:cNvPr id="9" name="Text 7"/>
          <p:cNvSpPr txBox="1"/>
          <p:nvPr/>
        </p:nvSpPr>
        <p:spPr>
          <a:xfrm>
            <a:off x="6217920" y="2011680"/>
            <a:ext cx="1371600" cy="475488"/>
          </a:xfrm>
          <a:prstGeom prst="rect">
            <a:avLst/>
          </a:prstGeom>
          <a:noFill/>
          <a:ln/>
        </p:spPr>
        <p:txBody>
          <a:bodyPr wrap="square" lIns="0" tIns="0" rIns="0" bIns="0" rtlCol="0" anchor="ctr"/>
          <a:lstStyle/>
          <a:p>
            <a:pPr algn="r" indent="0" marL="0">
              <a:buNone/>
            </a:pPr>
            <a:r>
              <a:rPr lang="en-US" sz="1350" b="1" dirty="0">
                <a:solidFill>
                  <a:srgbClr val="1C7293"/>
                </a:solidFill>
                <a:latin typeface="Calibri" pitchFamily="34" charset="0"/>
                <a:ea typeface="Calibri" pitchFamily="34" charset="-122"/>
                <a:cs typeface="Calibri" pitchFamily="34" charset="-120"/>
              </a:rPr>
              <a:t>3–4 h</a:t>
            </a:r>
            <a:endParaRPr lang="en-US" sz="1350" dirty="0"/>
          </a:p>
        </p:txBody>
      </p:sp>
      <p:sp>
        <p:nvSpPr>
          <p:cNvPr id="10" name="Shape 8"/>
          <p:cNvSpPr/>
          <p:nvPr/>
        </p:nvSpPr>
        <p:spPr>
          <a:xfrm>
            <a:off x="822960" y="2560320"/>
            <a:ext cx="6949440" cy="475488"/>
          </a:xfrm>
          <a:prstGeom prst="rect">
            <a:avLst/>
          </a:prstGeom>
          <a:solidFill>
            <a:srgbClr val="EDF3F6"/>
          </a:solidFill>
          <a:ln w="12700">
            <a:solidFill>
              <a:srgbClr val="E2EAEF"/>
            </a:solidFill>
            <a:prstDash val="solid"/>
          </a:ln>
        </p:spPr>
      </p:sp>
      <p:sp>
        <p:nvSpPr>
          <p:cNvPr id="11" name="Text 9"/>
          <p:cNvSpPr txBox="1"/>
          <p:nvPr/>
        </p:nvSpPr>
        <p:spPr>
          <a:xfrm>
            <a:off x="1005840" y="2560320"/>
            <a:ext cx="5120640" cy="475488"/>
          </a:xfrm>
          <a:prstGeom prst="rect">
            <a:avLst/>
          </a:prstGeom>
          <a:noFill/>
          <a:ln/>
        </p:spPr>
        <p:txBody>
          <a:bodyPr wrap="square" lIns="0" tIns="0" rIns="0" bIns="0" rtlCol="0" anchor="ctr"/>
          <a:lstStyle/>
          <a:p>
            <a:pPr indent="0" marL="0">
              <a:buNone/>
            </a:pPr>
            <a:r>
              <a:rPr lang="en-US" sz="1350" dirty="0">
                <a:solidFill>
                  <a:srgbClr val="15242C"/>
                </a:solidFill>
                <a:latin typeface="Calibri" pitchFamily="34" charset="0"/>
                <a:ea typeface="Calibri" pitchFamily="34" charset="-122"/>
                <a:cs typeface="Calibri" pitchFamily="34" charset="-120"/>
              </a:rPr>
              <a:t>FCNN / U-Net + training loop + matching IoU definition</a:t>
            </a:r>
            <a:endParaRPr lang="en-US" sz="1350" dirty="0"/>
          </a:p>
        </p:txBody>
      </p:sp>
      <p:sp>
        <p:nvSpPr>
          <p:cNvPr id="12" name="Text 10"/>
          <p:cNvSpPr txBox="1"/>
          <p:nvPr/>
        </p:nvSpPr>
        <p:spPr>
          <a:xfrm>
            <a:off x="6217920" y="2560320"/>
            <a:ext cx="1371600" cy="475488"/>
          </a:xfrm>
          <a:prstGeom prst="rect">
            <a:avLst/>
          </a:prstGeom>
          <a:noFill/>
          <a:ln/>
        </p:spPr>
        <p:txBody>
          <a:bodyPr wrap="square" lIns="0" tIns="0" rIns="0" bIns="0" rtlCol="0" anchor="ctr"/>
          <a:lstStyle/>
          <a:p>
            <a:pPr algn="r" indent="0" marL="0">
              <a:buNone/>
            </a:pPr>
            <a:r>
              <a:rPr lang="en-US" sz="1350" b="1" dirty="0">
                <a:solidFill>
                  <a:srgbClr val="1C7293"/>
                </a:solidFill>
                <a:latin typeface="Calibri" pitchFamily="34" charset="0"/>
                <a:ea typeface="Calibri" pitchFamily="34" charset="-122"/>
                <a:cs typeface="Calibri" pitchFamily="34" charset="-120"/>
              </a:rPr>
              <a:t>4–6 h</a:t>
            </a:r>
            <a:endParaRPr lang="en-US" sz="1350" dirty="0"/>
          </a:p>
        </p:txBody>
      </p:sp>
      <p:sp>
        <p:nvSpPr>
          <p:cNvPr id="13" name="Shape 11"/>
          <p:cNvSpPr/>
          <p:nvPr/>
        </p:nvSpPr>
        <p:spPr>
          <a:xfrm>
            <a:off x="822960" y="3108960"/>
            <a:ext cx="6949440" cy="475488"/>
          </a:xfrm>
          <a:prstGeom prst="rect">
            <a:avLst/>
          </a:prstGeom>
          <a:solidFill>
            <a:srgbClr val="FFFFFF"/>
          </a:solidFill>
          <a:ln w="12700">
            <a:solidFill>
              <a:srgbClr val="E2EAEF"/>
            </a:solidFill>
            <a:prstDash val="solid"/>
          </a:ln>
        </p:spPr>
      </p:sp>
      <p:sp>
        <p:nvSpPr>
          <p:cNvPr id="14" name="Text 12"/>
          <p:cNvSpPr txBox="1"/>
          <p:nvPr/>
        </p:nvSpPr>
        <p:spPr>
          <a:xfrm>
            <a:off x="1005840" y="3108960"/>
            <a:ext cx="5120640" cy="475488"/>
          </a:xfrm>
          <a:prstGeom prst="rect">
            <a:avLst/>
          </a:prstGeom>
          <a:noFill/>
          <a:ln/>
        </p:spPr>
        <p:txBody>
          <a:bodyPr wrap="square" lIns="0" tIns="0" rIns="0" bIns="0" rtlCol="0" anchor="ctr"/>
          <a:lstStyle/>
          <a:p>
            <a:pPr indent="0" marL="0">
              <a:buNone/>
            </a:pPr>
            <a:r>
              <a:rPr lang="en-US" sz="1350" dirty="0">
                <a:solidFill>
                  <a:srgbClr val="15242C"/>
                </a:solidFill>
                <a:latin typeface="Calibri" pitchFamily="34" charset="0"/>
                <a:ea typeface="Calibri" pitchFamily="34" charset="-122"/>
                <a:cs typeface="Calibri" pitchFamily="34" charset="-120"/>
              </a:rPr>
              <a:t>Debugging to first sane run</a:t>
            </a:r>
            <a:endParaRPr lang="en-US" sz="1350" dirty="0"/>
          </a:p>
        </p:txBody>
      </p:sp>
      <p:sp>
        <p:nvSpPr>
          <p:cNvPr id="15" name="Text 13"/>
          <p:cNvSpPr txBox="1"/>
          <p:nvPr/>
        </p:nvSpPr>
        <p:spPr>
          <a:xfrm>
            <a:off x="6217920" y="3108960"/>
            <a:ext cx="1371600" cy="475488"/>
          </a:xfrm>
          <a:prstGeom prst="rect">
            <a:avLst/>
          </a:prstGeom>
          <a:noFill/>
          <a:ln/>
        </p:spPr>
        <p:txBody>
          <a:bodyPr wrap="square" lIns="0" tIns="0" rIns="0" bIns="0" rtlCol="0" anchor="ctr"/>
          <a:lstStyle/>
          <a:p>
            <a:pPr algn="r" indent="0" marL="0">
              <a:buNone/>
            </a:pPr>
            <a:r>
              <a:rPr lang="en-US" sz="1350" b="1" dirty="0">
                <a:solidFill>
                  <a:srgbClr val="1C7293"/>
                </a:solidFill>
                <a:latin typeface="Calibri" pitchFamily="34" charset="0"/>
                <a:ea typeface="Calibri" pitchFamily="34" charset="-122"/>
                <a:cs typeface="Calibri" pitchFamily="34" charset="-120"/>
              </a:rPr>
              <a:t>4–8 h</a:t>
            </a:r>
            <a:endParaRPr lang="en-US" sz="1350" dirty="0"/>
          </a:p>
        </p:txBody>
      </p:sp>
      <p:sp>
        <p:nvSpPr>
          <p:cNvPr id="16" name="Shape 14"/>
          <p:cNvSpPr/>
          <p:nvPr/>
        </p:nvSpPr>
        <p:spPr>
          <a:xfrm>
            <a:off x="822960" y="3657600"/>
            <a:ext cx="6949440" cy="475488"/>
          </a:xfrm>
          <a:prstGeom prst="rect">
            <a:avLst/>
          </a:prstGeom>
          <a:solidFill>
            <a:srgbClr val="EDF3F6"/>
          </a:solidFill>
          <a:ln w="12700">
            <a:solidFill>
              <a:srgbClr val="E2EAEF"/>
            </a:solidFill>
            <a:prstDash val="solid"/>
          </a:ln>
        </p:spPr>
      </p:sp>
      <p:sp>
        <p:nvSpPr>
          <p:cNvPr id="17" name="Text 15"/>
          <p:cNvSpPr txBox="1"/>
          <p:nvPr/>
        </p:nvSpPr>
        <p:spPr>
          <a:xfrm>
            <a:off x="1005840" y="3657600"/>
            <a:ext cx="5120640" cy="475488"/>
          </a:xfrm>
          <a:prstGeom prst="rect">
            <a:avLst/>
          </a:prstGeom>
          <a:noFill/>
          <a:ln/>
        </p:spPr>
        <p:txBody>
          <a:bodyPr wrap="square" lIns="0" tIns="0" rIns="0" bIns="0" rtlCol="0" anchor="ctr"/>
          <a:lstStyle/>
          <a:p>
            <a:pPr indent="0" marL="0">
              <a:buNone/>
            </a:pPr>
            <a:r>
              <a:rPr lang="en-US" sz="1350" dirty="0">
                <a:solidFill>
                  <a:srgbClr val="15242C"/>
                </a:solidFill>
                <a:latin typeface="Calibri" pitchFamily="34" charset="0"/>
                <a:ea typeface="Calibri" pitchFamily="34" charset="-122"/>
                <a:cs typeface="Calibri" pitchFamily="34" charset="-120"/>
              </a:rPr>
              <a:t>Convergence runs + results table</a:t>
            </a:r>
            <a:endParaRPr lang="en-US" sz="1350" dirty="0"/>
          </a:p>
        </p:txBody>
      </p:sp>
      <p:sp>
        <p:nvSpPr>
          <p:cNvPr id="18" name="Text 16"/>
          <p:cNvSpPr txBox="1"/>
          <p:nvPr/>
        </p:nvSpPr>
        <p:spPr>
          <a:xfrm>
            <a:off x="6217920" y="3657600"/>
            <a:ext cx="1371600" cy="475488"/>
          </a:xfrm>
          <a:prstGeom prst="rect">
            <a:avLst/>
          </a:prstGeom>
          <a:noFill/>
          <a:ln/>
        </p:spPr>
        <p:txBody>
          <a:bodyPr wrap="square" lIns="0" tIns="0" rIns="0" bIns="0" rtlCol="0" anchor="ctr"/>
          <a:lstStyle/>
          <a:p>
            <a:pPr algn="r" indent="0" marL="0">
              <a:buNone/>
            </a:pPr>
            <a:r>
              <a:rPr lang="en-US" sz="1350" b="1" dirty="0">
                <a:solidFill>
                  <a:srgbClr val="1C7293"/>
                </a:solidFill>
                <a:latin typeface="Calibri" pitchFamily="34" charset="0"/>
                <a:ea typeface="Calibri" pitchFamily="34" charset="-122"/>
                <a:cs typeface="Calibri" pitchFamily="34" charset="-120"/>
              </a:rPr>
              <a:t>3–5 (6–10 wall) h</a:t>
            </a:r>
            <a:endParaRPr lang="en-US" sz="1350" dirty="0"/>
          </a:p>
        </p:txBody>
      </p:sp>
      <p:sp>
        <p:nvSpPr>
          <p:cNvPr id="19" name="Shape 17"/>
          <p:cNvSpPr/>
          <p:nvPr/>
        </p:nvSpPr>
        <p:spPr>
          <a:xfrm>
            <a:off x="822960" y="4206240"/>
            <a:ext cx="6949440" cy="475488"/>
          </a:xfrm>
          <a:prstGeom prst="rect">
            <a:avLst/>
          </a:prstGeom>
          <a:solidFill>
            <a:srgbClr val="FFFFFF"/>
          </a:solidFill>
          <a:ln w="12700">
            <a:solidFill>
              <a:srgbClr val="E2EAEF"/>
            </a:solidFill>
            <a:prstDash val="solid"/>
          </a:ln>
        </p:spPr>
      </p:sp>
      <p:sp>
        <p:nvSpPr>
          <p:cNvPr id="20" name="Text 18"/>
          <p:cNvSpPr txBox="1"/>
          <p:nvPr/>
        </p:nvSpPr>
        <p:spPr>
          <a:xfrm>
            <a:off x="1005840" y="4206240"/>
            <a:ext cx="5120640" cy="475488"/>
          </a:xfrm>
          <a:prstGeom prst="rect">
            <a:avLst/>
          </a:prstGeom>
          <a:noFill/>
          <a:ln/>
        </p:spPr>
        <p:txBody>
          <a:bodyPr wrap="square" lIns="0" tIns="0" rIns="0" bIns="0" rtlCol="0" anchor="ctr"/>
          <a:lstStyle/>
          <a:p>
            <a:pPr indent="0" marL="0">
              <a:buNone/>
            </a:pPr>
            <a:r>
              <a:rPr lang="en-US" sz="1350" dirty="0">
                <a:solidFill>
                  <a:srgbClr val="15242C"/>
                </a:solidFill>
                <a:latin typeface="Calibri" pitchFamily="34" charset="0"/>
                <a:ea typeface="Calibri" pitchFamily="34" charset="-122"/>
                <a:cs typeface="Calibri" pitchFamily="34" charset="-120"/>
              </a:rPr>
              <a:t>Write-up</a:t>
            </a:r>
            <a:endParaRPr lang="en-US" sz="1350" dirty="0"/>
          </a:p>
        </p:txBody>
      </p:sp>
      <p:sp>
        <p:nvSpPr>
          <p:cNvPr id="21" name="Text 19"/>
          <p:cNvSpPr txBox="1"/>
          <p:nvPr/>
        </p:nvSpPr>
        <p:spPr>
          <a:xfrm>
            <a:off x="6217920" y="4206240"/>
            <a:ext cx="1371600" cy="475488"/>
          </a:xfrm>
          <a:prstGeom prst="rect">
            <a:avLst/>
          </a:prstGeom>
          <a:noFill/>
          <a:ln/>
        </p:spPr>
        <p:txBody>
          <a:bodyPr wrap="square" lIns="0" tIns="0" rIns="0" bIns="0" rtlCol="0" anchor="ctr"/>
          <a:lstStyle/>
          <a:p>
            <a:pPr algn="r" indent="0" marL="0">
              <a:buNone/>
            </a:pPr>
            <a:r>
              <a:rPr lang="en-US" sz="1350" b="1" dirty="0">
                <a:solidFill>
                  <a:srgbClr val="1C7293"/>
                </a:solidFill>
                <a:latin typeface="Calibri" pitchFamily="34" charset="0"/>
                <a:ea typeface="Calibri" pitchFamily="34" charset="-122"/>
                <a:cs typeface="Calibri" pitchFamily="34" charset="-120"/>
              </a:rPr>
              <a:t>2–3 h</a:t>
            </a:r>
            <a:endParaRPr lang="en-US" sz="1350" dirty="0"/>
          </a:p>
        </p:txBody>
      </p:sp>
      <p:sp>
        <p:nvSpPr>
          <p:cNvPr id="22" name="Shape 20"/>
          <p:cNvSpPr/>
          <p:nvPr/>
        </p:nvSpPr>
        <p:spPr>
          <a:xfrm>
            <a:off x="822960" y="4754880"/>
            <a:ext cx="6949440" cy="502920"/>
          </a:xfrm>
          <a:prstGeom prst="rect">
            <a:avLst/>
          </a:prstGeom>
          <a:solidFill>
            <a:srgbClr val="0F3B57"/>
          </a:solidFill>
          <a:ln/>
        </p:spPr>
      </p:sp>
      <p:sp>
        <p:nvSpPr>
          <p:cNvPr id="23" name="Text 21"/>
          <p:cNvSpPr txBox="1"/>
          <p:nvPr/>
        </p:nvSpPr>
        <p:spPr>
          <a:xfrm>
            <a:off x="1005840" y="4754880"/>
            <a:ext cx="3657600" cy="5029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Total</a:t>
            </a:r>
            <a:endParaRPr lang="en-US" sz="1500" dirty="0"/>
          </a:p>
        </p:txBody>
      </p:sp>
      <p:sp>
        <p:nvSpPr>
          <p:cNvPr id="24" name="Text 22"/>
          <p:cNvSpPr txBox="1"/>
          <p:nvPr/>
        </p:nvSpPr>
        <p:spPr>
          <a:xfrm>
            <a:off x="4389120" y="4754880"/>
            <a:ext cx="3200400" cy="502920"/>
          </a:xfrm>
          <a:prstGeom prst="rect">
            <a:avLst/>
          </a:prstGeom>
          <a:noFill/>
          <a:ln/>
        </p:spPr>
        <p:txBody>
          <a:bodyPr wrap="square" lIns="0" tIns="0" rIns="0" bIns="0" rtlCol="0" anchor="ctr"/>
          <a:lstStyle/>
          <a:p>
            <a:pPr algn="r" indent="0" marL="0">
              <a:buNone/>
            </a:pPr>
            <a:r>
              <a:rPr lang="en-US" sz="1500" b="1" dirty="0">
                <a:solidFill>
                  <a:srgbClr val="FFFFFF"/>
                </a:solidFill>
                <a:latin typeface="Calibri" pitchFamily="34" charset="0"/>
                <a:ea typeface="Calibri" pitchFamily="34" charset="-122"/>
                <a:cs typeface="Calibri" pitchFamily="34" charset="-120"/>
              </a:rPr>
              <a:t>25–35 person-hours</a:t>
            </a:r>
            <a:endParaRPr lang="en-US" sz="1500" dirty="0"/>
          </a:p>
        </p:txBody>
      </p:sp>
      <p:sp>
        <p:nvSpPr>
          <p:cNvPr id="25" name="Shape 23"/>
          <p:cNvSpPr/>
          <p:nvPr/>
        </p:nvSpPr>
        <p:spPr>
          <a:xfrm>
            <a:off x="8138160" y="1463040"/>
            <a:ext cx="3200400" cy="1371600"/>
          </a:xfrm>
          <a:prstGeom prst="roundRect">
            <a:avLst>
              <a:gd name="adj" fmla="val 5333"/>
            </a:avLst>
          </a:prstGeom>
          <a:solidFill>
            <a:srgbClr val="E8EFF3"/>
          </a:solidFill>
          <a:ln w="12700">
            <a:solidFill>
              <a:srgbClr val="D5E1E8"/>
            </a:solidFill>
            <a:prstDash val="solid"/>
          </a:ln>
        </p:spPr>
      </p:sp>
      <p:sp>
        <p:nvSpPr>
          <p:cNvPr id="26" name="Text 24"/>
          <p:cNvSpPr txBox="1"/>
          <p:nvPr/>
        </p:nvSpPr>
        <p:spPr>
          <a:xfrm>
            <a:off x="8138160" y="1572768"/>
            <a:ext cx="3200400" cy="685800"/>
          </a:xfrm>
          <a:prstGeom prst="rect">
            <a:avLst/>
          </a:prstGeom>
          <a:noFill/>
          <a:ln/>
        </p:spPr>
        <p:txBody>
          <a:bodyPr wrap="square" lIns="0" tIns="0" rIns="0" bIns="0" rtlCol="0" anchor="ctr"/>
          <a:lstStyle/>
          <a:p>
            <a:pPr algn="ctr" indent="0" marL="0">
              <a:buNone/>
            </a:pPr>
            <a:r>
              <a:rPr lang="en-US" sz="4400" b="1" dirty="0">
                <a:solidFill>
                  <a:srgbClr val="0F3B57"/>
                </a:solidFill>
                <a:latin typeface="Cambria" pitchFamily="34" charset="0"/>
                <a:ea typeface="Cambria" pitchFamily="34" charset="-122"/>
                <a:cs typeface="Cambria" pitchFamily="34" charset="-120"/>
              </a:rPr>
              <a:t>&lt; 5</a:t>
            </a:r>
            <a:endParaRPr lang="en-US" sz="4400" dirty="0"/>
          </a:p>
        </p:txBody>
      </p:sp>
      <p:sp>
        <p:nvSpPr>
          <p:cNvPr id="27" name="Text 25"/>
          <p:cNvSpPr txBox="1"/>
          <p:nvPr/>
        </p:nvSpPr>
        <p:spPr>
          <a:xfrm>
            <a:off x="8138160" y="2240280"/>
            <a:ext cx="3200400" cy="548640"/>
          </a:xfrm>
          <a:prstGeom prst="rect">
            <a:avLst/>
          </a:prstGeom>
          <a:noFill/>
          <a:ln/>
        </p:spPr>
        <p:txBody>
          <a:bodyPr wrap="square" lIns="0" tIns="0" rIns="0" bIns="0" rtlCol="0" anchor="ctr"/>
          <a:lstStyle/>
          <a:p>
            <a:pPr algn="ctr" indent="0" marL="0">
              <a:buNone/>
            </a:pPr>
            <a:r>
              <a:rPr lang="en-US" sz="1200" dirty="0">
                <a:solidFill>
                  <a:srgbClr val="5B6B73"/>
                </a:solidFill>
                <a:latin typeface="Calibri" pitchFamily="34" charset="0"/>
                <a:ea typeface="Calibri" pitchFamily="34" charset="-122"/>
                <a:cs typeface="Calibri" pitchFamily="34" charset="-120"/>
              </a:rPr>
              <a:t>GPU-hours — free Kaggle T4</a:t>
            </a:r>
            <a:endParaRPr lang="en-US" sz="1200" dirty="0"/>
          </a:p>
          <a:p>
            <a:pPr algn="ctr" indent="0" marL="0">
              <a:buNone/>
            </a:pPr>
            <a:r>
              <a:rPr lang="en-US" sz="1200" dirty="0">
                <a:solidFill>
                  <a:srgbClr val="5B6B73"/>
                </a:solidFill>
                <a:latin typeface="Calibri" pitchFamily="34" charset="0"/>
                <a:ea typeface="Calibri" pitchFamily="34" charset="-122"/>
                <a:cs typeface="Calibri" pitchFamily="34" charset="-120"/>
              </a:rPr>
              <a:t>(30 GPU-h/week is plenty)</a:t>
            </a:r>
            <a:endParaRPr lang="en-US" sz="1200" dirty="0"/>
          </a:p>
        </p:txBody>
      </p:sp>
      <p:sp>
        <p:nvSpPr>
          <p:cNvPr id="28" name="Shape 26"/>
          <p:cNvSpPr/>
          <p:nvPr/>
        </p:nvSpPr>
        <p:spPr>
          <a:xfrm>
            <a:off x="8138160" y="3017520"/>
            <a:ext cx="3200400" cy="2240280"/>
          </a:xfrm>
          <a:prstGeom prst="roundRect">
            <a:avLst>
              <a:gd name="adj" fmla="val 3265"/>
            </a:avLst>
          </a:prstGeom>
          <a:solidFill>
            <a:srgbClr val="FDF3E3"/>
          </a:solidFill>
          <a:ln w="12700">
            <a:solidFill>
              <a:srgbClr val="E0912F"/>
            </a:solidFill>
            <a:prstDash val="solid"/>
          </a:ln>
        </p:spPr>
      </p:sp>
      <p:sp>
        <p:nvSpPr>
          <p:cNvPr id="29" name="Text 27"/>
          <p:cNvSpPr txBox="1"/>
          <p:nvPr/>
        </p:nvSpPr>
        <p:spPr>
          <a:xfrm>
            <a:off x="8321040" y="3154680"/>
            <a:ext cx="2834640" cy="365760"/>
          </a:xfrm>
          <a:prstGeom prst="rect">
            <a:avLst/>
          </a:prstGeom>
          <a:noFill/>
          <a:ln/>
        </p:spPr>
        <p:txBody>
          <a:bodyPr wrap="square" lIns="0" tIns="0" rIns="0" bIns="0" rtlCol="0" anchor="ctr"/>
          <a:lstStyle/>
          <a:p>
            <a:pPr indent="0" marL="0">
              <a:buNone/>
            </a:pPr>
            <a:r>
              <a:rPr lang="en-US" sz="1600" b="1" dirty="0">
                <a:solidFill>
                  <a:srgbClr val="0F3B57"/>
                </a:solidFill>
                <a:latin typeface="Cambria" pitchFamily="34" charset="0"/>
                <a:ea typeface="Cambria" pitchFamily="34" charset="-122"/>
                <a:cs typeface="Cambria" pitchFamily="34" charset="-120"/>
              </a:rPr>
              <a:t>Three gotchas</a:t>
            </a:r>
            <a:endParaRPr lang="en-US" sz="1600" dirty="0"/>
          </a:p>
        </p:txBody>
      </p:sp>
      <p:sp>
        <p:nvSpPr>
          <p:cNvPr id="30" name="Text 28"/>
          <p:cNvSpPr txBox="1"/>
          <p:nvPr/>
        </p:nvSpPr>
        <p:spPr>
          <a:xfrm>
            <a:off x="8321040" y="3566160"/>
            <a:ext cx="2834640" cy="16002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5242C"/>
                </a:solidFill>
                <a:latin typeface="Calibri" pitchFamily="34" charset="0"/>
                <a:ea typeface="Calibri" pitchFamily="34" charset="-122"/>
                <a:cs typeface="Calibri" pitchFamily="34" charset="-120"/>
              </a:rPr>
              <a:t>−1 means no-data — mask it out of loss and IoU</a:t>
            </a:r>
            <a:endParaRPr lang="en-US" sz="1150" dirty="0"/>
          </a:p>
          <a:p>
            <a:pPr marL="342900" indent="-342900">
              <a:spcAft>
                <a:spcPts val="600"/>
              </a:spcAft>
              <a:buSzPct val="100000"/>
              <a:buChar char="•"/>
            </a:pPr>
            <a:r>
              <a:rPr lang="en-US" sz="1150" dirty="0">
                <a:solidFill>
                  <a:srgbClr val="15242C"/>
                </a:solidFill>
                <a:latin typeface="Calibri" pitchFamily="34" charset="0"/>
                <a:ea typeface="Calibri" pitchFamily="34" charset="-122"/>
                <a:cs typeface="Calibri" pitchFamily="34" charset="-120"/>
              </a:rPr>
              <a:t>The 2020 repo is TensorFlow-era and bit-rotted — rewrite in PyTorch</a:t>
            </a:r>
            <a:endParaRPr lang="en-US" sz="1150" dirty="0"/>
          </a:p>
          <a:p>
            <a:pPr marL="342900" indent="-342900">
              <a:spcAft>
                <a:spcPts val="600"/>
              </a:spcAft>
              <a:buSzPct val="100000"/>
              <a:buChar char="•"/>
            </a:pPr>
            <a:r>
              <a:rPr lang="en-US" sz="1150" dirty="0">
                <a:solidFill>
                  <a:srgbClr val="15242C"/>
                </a:solidFill>
                <a:latin typeface="Calibri" pitchFamily="34" charset="0"/>
                <a:ea typeface="Calibri" pitchFamily="34" charset="-122"/>
                <a:cs typeface="Calibri" pitchFamily="34" charset="-120"/>
              </a:rPr>
              <a:t>Expect IoU 0.55–0.65, not their exact number — we report it as a reproduction gap</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94360"/>
          </a:xfrm>
          <a:prstGeom prst="rect">
            <a:avLst/>
          </a:prstGeom>
          <a:noFill/>
          <a:ln/>
        </p:spPr>
        <p:txBody>
          <a:bodyPr wrap="square" rtlCol="0" anchor="ctr"/>
          <a:lstStyle/>
          <a:p>
            <a:pPr indent="0" marL="0">
              <a:buNone/>
            </a:pPr>
            <a:r>
              <a:rPr lang="en-US" sz="3000" b="1" dirty="0">
                <a:solidFill>
                  <a:srgbClr val="0F3B57"/>
                </a:solidFill>
                <a:latin typeface="Cambria" pitchFamily="34" charset="0"/>
                <a:ea typeface="Cambria" pitchFamily="34" charset="-122"/>
                <a:cs typeface="Cambria" pitchFamily="34" charset="-120"/>
              </a:rPr>
              <a:t>Effort estimate 2 — our own study</a:t>
            </a:r>
            <a:endParaRPr lang="en-US" sz="3000" dirty="0"/>
          </a:p>
        </p:txBody>
      </p:sp>
      <p:sp>
        <p:nvSpPr>
          <p:cNvPr id="3" name="Text 1"/>
          <p:cNvSpPr txBox="1"/>
          <p:nvPr/>
        </p:nvSpPr>
        <p:spPr>
          <a:xfrm>
            <a:off x="566928" y="914400"/>
            <a:ext cx="11064240" cy="347472"/>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Four people · ten weeks to end of November · 6–8 h/week each</a:t>
            </a:r>
            <a:endParaRPr lang="en-US" sz="1500" dirty="0"/>
          </a:p>
        </p:txBody>
      </p:sp>
      <p:sp>
        <p:nvSpPr>
          <p:cNvPr id="4" name="Shape 2"/>
          <p:cNvSpPr/>
          <p:nvPr/>
        </p:nvSpPr>
        <p:spPr>
          <a:xfrm>
            <a:off x="822960" y="1417320"/>
            <a:ext cx="6766560" cy="365760"/>
          </a:xfrm>
          <a:prstGeom prst="rect">
            <a:avLst/>
          </a:prstGeom>
          <a:solidFill>
            <a:srgbClr val="EDF3F6"/>
          </a:solidFill>
          <a:ln w="12700">
            <a:solidFill>
              <a:srgbClr val="E2EAEF"/>
            </a:solidFill>
            <a:prstDash val="solid"/>
          </a:ln>
        </p:spPr>
      </p:sp>
      <p:sp>
        <p:nvSpPr>
          <p:cNvPr id="5" name="Text 3"/>
          <p:cNvSpPr txBox="1"/>
          <p:nvPr/>
        </p:nvSpPr>
        <p:spPr>
          <a:xfrm>
            <a:off x="960120" y="1417320"/>
            <a:ext cx="4297680" cy="365760"/>
          </a:xfrm>
          <a:prstGeom prst="rect">
            <a:avLst/>
          </a:prstGeom>
          <a:noFill/>
          <a:ln/>
        </p:spPr>
        <p:txBody>
          <a:bodyPr wrap="square" lIns="0" tIns="0" rIns="0" bIns="0" rtlCol="0" anchor="ctr"/>
          <a:lstStyle/>
          <a:p>
            <a:pPr indent="0" marL="0">
              <a:buNone/>
            </a:pPr>
            <a:r>
              <a:rPr lang="en-US" sz="1250" dirty="0">
                <a:solidFill>
                  <a:srgbClr val="15242C"/>
                </a:solidFill>
                <a:latin typeface="Calibri" pitchFamily="34" charset="0"/>
                <a:ea typeface="Calibri" pitchFamily="34" charset="-122"/>
                <a:cs typeface="Calibri" pitchFamily="34" charset="-120"/>
              </a:rPr>
              <a:t>NISAR GCOV → analysis-ready chips</a:t>
            </a:r>
            <a:endParaRPr lang="en-US" sz="1250" dirty="0"/>
          </a:p>
        </p:txBody>
      </p:sp>
      <p:sp>
        <p:nvSpPr>
          <p:cNvPr id="6" name="Text 4"/>
          <p:cNvSpPr txBox="1"/>
          <p:nvPr/>
        </p:nvSpPr>
        <p:spPr>
          <a:xfrm>
            <a:off x="5257800" y="1417320"/>
            <a:ext cx="914400" cy="365760"/>
          </a:xfrm>
          <a:prstGeom prst="rect">
            <a:avLst/>
          </a:prstGeom>
          <a:noFill/>
          <a:ln/>
        </p:spPr>
        <p:txBody>
          <a:bodyPr wrap="square" lIns="0" tIns="0" rIns="0" bIns="0"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25–40 h</a:t>
            </a:r>
            <a:endParaRPr lang="en-US" sz="1250" dirty="0"/>
          </a:p>
        </p:txBody>
      </p:sp>
      <p:sp>
        <p:nvSpPr>
          <p:cNvPr id="7" name="Text 5"/>
          <p:cNvSpPr txBox="1"/>
          <p:nvPr/>
        </p:nvSpPr>
        <p:spPr>
          <a:xfrm>
            <a:off x="6355080" y="1417320"/>
            <a:ext cx="1097280" cy="365760"/>
          </a:xfrm>
          <a:prstGeom prst="rect">
            <a:avLst/>
          </a:prstGeom>
          <a:noFill/>
          <a:ln/>
        </p:spPr>
        <p:txBody>
          <a:bodyPr wrap="square" lIns="0" tIns="0" rIns="0" bIns="0" rtlCol="0" anchor="ctr"/>
          <a:lstStyle/>
          <a:p>
            <a:pPr algn="r" indent="0" marL="0">
              <a:buNone/>
            </a:pPr>
            <a:r>
              <a:rPr lang="en-US" sz="1150" b="1" dirty="0">
                <a:solidFill>
                  <a:srgbClr val="A33B2A"/>
                </a:solidFill>
                <a:latin typeface="Calibri" pitchFamily="34" charset="0"/>
                <a:ea typeface="Calibri" pitchFamily="34" charset="-122"/>
                <a:cs typeface="Calibri" pitchFamily="34" charset="-120"/>
              </a:rPr>
              <a:t>High</a:t>
            </a:r>
            <a:endParaRPr lang="en-US" sz="1150" dirty="0"/>
          </a:p>
        </p:txBody>
      </p:sp>
      <p:sp>
        <p:nvSpPr>
          <p:cNvPr id="8" name="Shape 6"/>
          <p:cNvSpPr/>
          <p:nvPr/>
        </p:nvSpPr>
        <p:spPr>
          <a:xfrm>
            <a:off x="822960" y="1819656"/>
            <a:ext cx="6766560" cy="365760"/>
          </a:xfrm>
          <a:prstGeom prst="rect">
            <a:avLst/>
          </a:prstGeom>
          <a:solidFill>
            <a:srgbClr val="FFFFFF"/>
          </a:solidFill>
          <a:ln w="12700">
            <a:solidFill>
              <a:srgbClr val="E2EAEF"/>
            </a:solidFill>
            <a:prstDash val="solid"/>
          </a:ln>
        </p:spPr>
      </p:sp>
      <p:sp>
        <p:nvSpPr>
          <p:cNvPr id="9" name="Text 7"/>
          <p:cNvSpPr txBox="1"/>
          <p:nvPr/>
        </p:nvSpPr>
        <p:spPr>
          <a:xfrm>
            <a:off x="960120" y="1819656"/>
            <a:ext cx="4297680" cy="365760"/>
          </a:xfrm>
          <a:prstGeom prst="rect">
            <a:avLst/>
          </a:prstGeom>
          <a:noFill/>
          <a:ln/>
        </p:spPr>
        <p:txBody>
          <a:bodyPr wrap="square" lIns="0" tIns="0" rIns="0" bIns="0" rtlCol="0" anchor="ctr"/>
          <a:lstStyle/>
          <a:p>
            <a:pPr indent="0" marL="0">
              <a:buNone/>
            </a:pPr>
            <a:r>
              <a:rPr lang="en-US" sz="1250" dirty="0">
                <a:solidFill>
                  <a:srgbClr val="15242C"/>
                </a:solidFill>
                <a:latin typeface="Calibri" pitchFamily="34" charset="0"/>
                <a:ea typeface="Calibri" pitchFamily="34" charset="-122"/>
                <a:cs typeface="Calibri" pitchFamily="34" charset="-120"/>
              </a:rPr>
              <a:t>Labelling protocol + tooling</a:t>
            </a:r>
            <a:endParaRPr lang="en-US" sz="1250" dirty="0"/>
          </a:p>
        </p:txBody>
      </p:sp>
      <p:sp>
        <p:nvSpPr>
          <p:cNvPr id="10" name="Text 8"/>
          <p:cNvSpPr txBox="1"/>
          <p:nvPr/>
        </p:nvSpPr>
        <p:spPr>
          <a:xfrm>
            <a:off x="5257800" y="1819656"/>
            <a:ext cx="914400" cy="365760"/>
          </a:xfrm>
          <a:prstGeom prst="rect">
            <a:avLst/>
          </a:prstGeom>
          <a:noFill/>
          <a:ln/>
        </p:spPr>
        <p:txBody>
          <a:bodyPr wrap="square" lIns="0" tIns="0" rIns="0" bIns="0"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6–8 h</a:t>
            </a:r>
            <a:endParaRPr lang="en-US" sz="1250" dirty="0"/>
          </a:p>
        </p:txBody>
      </p:sp>
      <p:sp>
        <p:nvSpPr>
          <p:cNvPr id="11" name="Text 9"/>
          <p:cNvSpPr txBox="1"/>
          <p:nvPr/>
        </p:nvSpPr>
        <p:spPr>
          <a:xfrm>
            <a:off x="6355080" y="1819656"/>
            <a:ext cx="1097280" cy="365760"/>
          </a:xfrm>
          <a:prstGeom prst="rect">
            <a:avLst/>
          </a:prstGeom>
          <a:noFill/>
          <a:ln/>
        </p:spPr>
        <p:txBody>
          <a:bodyPr wrap="square" lIns="0" tIns="0" rIns="0" bIns="0" rtlCol="0" anchor="ctr"/>
          <a:lstStyle/>
          <a:p>
            <a:pPr algn="r" indent="0" marL="0">
              <a:buNone/>
            </a:pPr>
            <a:r>
              <a:rPr lang="en-US" sz="1150" b="1" dirty="0">
                <a:solidFill>
                  <a:srgbClr val="3E7C59"/>
                </a:solidFill>
                <a:latin typeface="Calibri" pitchFamily="34" charset="0"/>
                <a:ea typeface="Calibri" pitchFamily="34" charset="-122"/>
                <a:cs typeface="Calibri" pitchFamily="34" charset="-120"/>
              </a:rPr>
              <a:t>Low</a:t>
            </a:r>
            <a:endParaRPr lang="en-US" sz="1150" dirty="0"/>
          </a:p>
        </p:txBody>
      </p:sp>
      <p:sp>
        <p:nvSpPr>
          <p:cNvPr id="12" name="Shape 10"/>
          <p:cNvSpPr/>
          <p:nvPr/>
        </p:nvSpPr>
        <p:spPr>
          <a:xfrm>
            <a:off x="822960" y="2221992"/>
            <a:ext cx="6766560" cy="365760"/>
          </a:xfrm>
          <a:prstGeom prst="rect">
            <a:avLst/>
          </a:prstGeom>
          <a:solidFill>
            <a:srgbClr val="EDF3F6"/>
          </a:solidFill>
          <a:ln w="12700">
            <a:solidFill>
              <a:srgbClr val="E2EAEF"/>
            </a:solidFill>
            <a:prstDash val="solid"/>
          </a:ln>
        </p:spPr>
      </p:sp>
      <p:sp>
        <p:nvSpPr>
          <p:cNvPr id="13" name="Text 11"/>
          <p:cNvSpPr txBox="1"/>
          <p:nvPr/>
        </p:nvSpPr>
        <p:spPr>
          <a:xfrm>
            <a:off x="960120" y="2221992"/>
            <a:ext cx="4297680" cy="365760"/>
          </a:xfrm>
          <a:prstGeom prst="rect">
            <a:avLst/>
          </a:prstGeom>
          <a:noFill/>
          <a:ln/>
        </p:spPr>
        <p:txBody>
          <a:bodyPr wrap="square" lIns="0" tIns="0" rIns="0" bIns="0" rtlCol="0" anchor="ctr"/>
          <a:lstStyle/>
          <a:p>
            <a:pPr indent="0" marL="0">
              <a:buNone/>
            </a:pPr>
            <a:r>
              <a:rPr lang="en-US" sz="1250" dirty="0">
                <a:solidFill>
                  <a:srgbClr val="15242C"/>
                </a:solidFill>
                <a:latin typeface="Calibri" pitchFamily="34" charset="0"/>
                <a:ea typeface="Calibri" pitchFamily="34" charset="-122"/>
                <a:cs typeface="Calibri" pitchFamily="34" charset="-120"/>
              </a:rPr>
              <a:t>Hand-labelling 50 chips + agreement stats</a:t>
            </a:r>
            <a:endParaRPr lang="en-US" sz="1250" dirty="0"/>
          </a:p>
        </p:txBody>
      </p:sp>
      <p:sp>
        <p:nvSpPr>
          <p:cNvPr id="14" name="Text 12"/>
          <p:cNvSpPr txBox="1"/>
          <p:nvPr/>
        </p:nvSpPr>
        <p:spPr>
          <a:xfrm>
            <a:off x="5257800" y="2221992"/>
            <a:ext cx="914400" cy="365760"/>
          </a:xfrm>
          <a:prstGeom prst="rect">
            <a:avLst/>
          </a:prstGeom>
          <a:noFill/>
          <a:ln/>
        </p:spPr>
        <p:txBody>
          <a:bodyPr wrap="square" lIns="0" tIns="0" rIns="0" bIns="0"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40–50 h</a:t>
            </a:r>
            <a:endParaRPr lang="en-US" sz="1250" dirty="0"/>
          </a:p>
        </p:txBody>
      </p:sp>
      <p:sp>
        <p:nvSpPr>
          <p:cNvPr id="15" name="Text 13"/>
          <p:cNvSpPr txBox="1"/>
          <p:nvPr/>
        </p:nvSpPr>
        <p:spPr>
          <a:xfrm>
            <a:off x="6355080" y="2221992"/>
            <a:ext cx="1097280" cy="365760"/>
          </a:xfrm>
          <a:prstGeom prst="rect">
            <a:avLst/>
          </a:prstGeom>
          <a:noFill/>
          <a:ln/>
        </p:spPr>
        <p:txBody>
          <a:bodyPr wrap="square" lIns="0" tIns="0" rIns="0" bIns="0" rtlCol="0" anchor="ctr"/>
          <a:lstStyle/>
          <a:p>
            <a:pPr algn="r" indent="0" marL="0">
              <a:buNone/>
            </a:pPr>
            <a:r>
              <a:rPr lang="en-US" sz="1150" b="1" dirty="0">
                <a:solidFill>
                  <a:srgbClr val="E0912F"/>
                </a:solidFill>
                <a:latin typeface="Calibri" pitchFamily="34" charset="0"/>
                <a:ea typeface="Calibri" pitchFamily="34" charset="-122"/>
                <a:cs typeface="Calibri" pitchFamily="34" charset="-120"/>
              </a:rPr>
              <a:t>Medium</a:t>
            </a:r>
            <a:endParaRPr lang="en-US" sz="1150" dirty="0"/>
          </a:p>
        </p:txBody>
      </p:sp>
      <p:sp>
        <p:nvSpPr>
          <p:cNvPr id="16" name="Shape 14"/>
          <p:cNvSpPr/>
          <p:nvPr/>
        </p:nvSpPr>
        <p:spPr>
          <a:xfrm>
            <a:off x="822960" y="2624328"/>
            <a:ext cx="6766560" cy="365760"/>
          </a:xfrm>
          <a:prstGeom prst="rect">
            <a:avLst/>
          </a:prstGeom>
          <a:solidFill>
            <a:srgbClr val="FFFFFF"/>
          </a:solidFill>
          <a:ln w="12700">
            <a:solidFill>
              <a:srgbClr val="E2EAEF"/>
            </a:solidFill>
            <a:prstDash val="solid"/>
          </a:ln>
        </p:spPr>
      </p:sp>
      <p:sp>
        <p:nvSpPr>
          <p:cNvPr id="17" name="Text 15"/>
          <p:cNvSpPr txBox="1"/>
          <p:nvPr/>
        </p:nvSpPr>
        <p:spPr>
          <a:xfrm>
            <a:off x="960120" y="2624328"/>
            <a:ext cx="4297680" cy="365760"/>
          </a:xfrm>
          <a:prstGeom prst="rect">
            <a:avLst/>
          </a:prstGeom>
          <a:noFill/>
          <a:ln/>
        </p:spPr>
        <p:txBody>
          <a:bodyPr wrap="square" lIns="0" tIns="0" rIns="0" bIns="0" rtlCol="0" anchor="ctr"/>
          <a:lstStyle/>
          <a:p>
            <a:pPr indent="0" marL="0">
              <a:buNone/>
            </a:pPr>
            <a:r>
              <a:rPr lang="en-US" sz="1250" dirty="0">
                <a:solidFill>
                  <a:srgbClr val="15242C"/>
                </a:solidFill>
                <a:latin typeface="Calibri" pitchFamily="34" charset="0"/>
                <a:ea typeface="Calibri" pitchFamily="34" charset="-122"/>
                <a:cs typeface="Calibri" pitchFamily="34" charset="-120"/>
              </a:rPr>
              <a:t>Sen1Floods11 baseline (estimate 1)</a:t>
            </a:r>
            <a:endParaRPr lang="en-US" sz="1250" dirty="0"/>
          </a:p>
        </p:txBody>
      </p:sp>
      <p:sp>
        <p:nvSpPr>
          <p:cNvPr id="18" name="Text 16"/>
          <p:cNvSpPr txBox="1"/>
          <p:nvPr/>
        </p:nvSpPr>
        <p:spPr>
          <a:xfrm>
            <a:off x="5257800" y="2624328"/>
            <a:ext cx="914400" cy="365760"/>
          </a:xfrm>
          <a:prstGeom prst="rect">
            <a:avLst/>
          </a:prstGeom>
          <a:noFill/>
          <a:ln/>
        </p:spPr>
        <p:txBody>
          <a:bodyPr wrap="square" lIns="0" tIns="0" rIns="0" bIns="0"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25–35 h</a:t>
            </a:r>
            <a:endParaRPr lang="en-US" sz="1250" dirty="0"/>
          </a:p>
        </p:txBody>
      </p:sp>
      <p:sp>
        <p:nvSpPr>
          <p:cNvPr id="19" name="Text 17"/>
          <p:cNvSpPr txBox="1"/>
          <p:nvPr/>
        </p:nvSpPr>
        <p:spPr>
          <a:xfrm>
            <a:off x="6355080" y="2624328"/>
            <a:ext cx="1097280" cy="365760"/>
          </a:xfrm>
          <a:prstGeom prst="rect">
            <a:avLst/>
          </a:prstGeom>
          <a:noFill/>
          <a:ln/>
        </p:spPr>
        <p:txBody>
          <a:bodyPr wrap="square" lIns="0" tIns="0" rIns="0" bIns="0" rtlCol="0" anchor="ctr"/>
          <a:lstStyle/>
          <a:p>
            <a:pPr algn="r" indent="0" marL="0">
              <a:buNone/>
            </a:pPr>
            <a:r>
              <a:rPr lang="en-US" sz="1150" b="1" dirty="0">
                <a:solidFill>
                  <a:srgbClr val="3E7C59"/>
                </a:solidFill>
                <a:latin typeface="Calibri" pitchFamily="34" charset="0"/>
                <a:ea typeface="Calibri" pitchFamily="34" charset="-122"/>
                <a:cs typeface="Calibri" pitchFamily="34" charset="-120"/>
              </a:rPr>
              <a:t>Low</a:t>
            </a:r>
            <a:endParaRPr lang="en-US" sz="1150" dirty="0"/>
          </a:p>
        </p:txBody>
      </p:sp>
      <p:sp>
        <p:nvSpPr>
          <p:cNvPr id="20" name="Shape 18"/>
          <p:cNvSpPr/>
          <p:nvPr/>
        </p:nvSpPr>
        <p:spPr>
          <a:xfrm>
            <a:off x="822960" y="3026664"/>
            <a:ext cx="6766560" cy="365760"/>
          </a:xfrm>
          <a:prstGeom prst="rect">
            <a:avLst/>
          </a:prstGeom>
          <a:solidFill>
            <a:srgbClr val="EDF3F6"/>
          </a:solidFill>
          <a:ln w="12700">
            <a:solidFill>
              <a:srgbClr val="E2EAEF"/>
            </a:solidFill>
            <a:prstDash val="solid"/>
          </a:ln>
        </p:spPr>
      </p:sp>
      <p:sp>
        <p:nvSpPr>
          <p:cNvPr id="21" name="Text 19"/>
          <p:cNvSpPr txBox="1"/>
          <p:nvPr/>
        </p:nvSpPr>
        <p:spPr>
          <a:xfrm>
            <a:off x="960120" y="3026664"/>
            <a:ext cx="4297680" cy="365760"/>
          </a:xfrm>
          <a:prstGeom prst="rect">
            <a:avLst/>
          </a:prstGeom>
          <a:noFill/>
          <a:ln/>
        </p:spPr>
        <p:txBody>
          <a:bodyPr wrap="square" lIns="0" tIns="0" rIns="0" bIns="0" rtlCol="0" anchor="ctr"/>
          <a:lstStyle/>
          <a:p>
            <a:pPr indent="0" marL="0">
              <a:buNone/>
            </a:pPr>
            <a:r>
              <a:rPr lang="en-US" sz="1250" dirty="0">
                <a:solidFill>
                  <a:srgbClr val="15242C"/>
                </a:solidFill>
                <a:latin typeface="Calibri" pitchFamily="34" charset="0"/>
                <a:ea typeface="Calibri" pitchFamily="34" charset="-122"/>
                <a:cs typeface="Calibri" pitchFamily="34" charset="-120"/>
              </a:rPr>
              <a:t>Our ViT / SegFormer source model</a:t>
            </a:r>
            <a:endParaRPr lang="en-US" sz="1250" dirty="0"/>
          </a:p>
        </p:txBody>
      </p:sp>
      <p:sp>
        <p:nvSpPr>
          <p:cNvPr id="22" name="Text 20"/>
          <p:cNvSpPr txBox="1"/>
          <p:nvPr/>
        </p:nvSpPr>
        <p:spPr>
          <a:xfrm>
            <a:off x="5257800" y="3026664"/>
            <a:ext cx="914400" cy="365760"/>
          </a:xfrm>
          <a:prstGeom prst="rect">
            <a:avLst/>
          </a:prstGeom>
          <a:noFill/>
          <a:ln/>
        </p:spPr>
        <p:txBody>
          <a:bodyPr wrap="square" lIns="0" tIns="0" rIns="0" bIns="0"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15–20 h</a:t>
            </a:r>
            <a:endParaRPr lang="en-US" sz="1250" dirty="0"/>
          </a:p>
        </p:txBody>
      </p:sp>
      <p:sp>
        <p:nvSpPr>
          <p:cNvPr id="23" name="Text 21"/>
          <p:cNvSpPr txBox="1"/>
          <p:nvPr/>
        </p:nvSpPr>
        <p:spPr>
          <a:xfrm>
            <a:off x="6355080" y="3026664"/>
            <a:ext cx="1097280" cy="365760"/>
          </a:xfrm>
          <a:prstGeom prst="rect">
            <a:avLst/>
          </a:prstGeom>
          <a:noFill/>
          <a:ln/>
        </p:spPr>
        <p:txBody>
          <a:bodyPr wrap="square" lIns="0" tIns="0" rIns="0" bIns="0" rtlCol="0" anchor="ctr"/>
          <a:lstStyle/>
          <a:p>
            <a:pPr algn="r" indent="0" marL="0">
              <a:buNone/>
            </a:pPr>
            <a:r>
              <a:rPr lang="en-US" sz="1150" b="1" dirty="0">
                <a:solidFill>
                  <a:srgbClr val="3E7C59"/>
                </a:solidFill>
                <a:latin typeface="Calibri" pitchFamily="34" charset="0"/>
                <a:ea typeface="Calibri" pitchFamily="34" charset="-122"/>
                <a:cs typeface="Calibri" pitchFamily="34" charset="-120"/>
              </a:rPr>
              <a:t>Low</a:t>
            </a:r>
            <a:endParaRPr lang="en-US" sz="1150" dirty="0"/>
          </a:p>
        </p:txBody>
      </p:sp>
      <p:sp>
        <p:nvSpPr>
          <p:cNvPr id="24" name="Shape 22"/>
          <p:cNvSpPr/>
          <p:nvPr/>
        </p:nvSpPr>
        <p:spPr>
          <a:xfrm>
            <a:off x="822960" y="3429000"/>
            <a:ext cx="6766560" cy="365760"/>
          </a:xfrm>
          <a:prstGeom prst="rect">
            <a:avLst/>
          </a:prstGeom>
          <a:solidFill>
            <a:srgbClr val="FFFFFF"/>
          </a:solidFill>
          <a:ln w="12700">
            <a:solidFill>
              <a:srgbClr val="E2EAEF"/>
            </a:solidFill>
            <a:prstDash val="solid"/>
          </a:ln>
        </p:spPr>
      </p:sp>
      <p:sp>
        <p:nvSpPr>
          <p:cNvPr id="25" name="Text 23"/>
          <p:cNvSpPr txBox="1"/>
          <p:nvPr/>
        </p:nvSpPr>
        <p:spPr>
          <a:xfrm>
            <a:off x="960120" y="3429000"/>
            <a:ext cx="4297680" cy="365760"/>
          </a:xfrm>
          <a:prstGeom prst="rect">
            <a:avLst/>
          </a:prstGeom>
          <a:noFill/>
          <a:ln/>
        </p:spPr>
        <p:txBody>
          <a:bodyPr wrap="square" lIns="0" tIns="0" rIns="0" bIns="0" rtlCol="0" anchor="ctr"/>
          <a:lstStyle/>
          <a:p>
            <a:pPr indent="0" marL="0">
              <a:buNone/>
            </a:pPr>
            <a:r>
              <a:rPr lang="en-US" sz="1250" dirty="0">
                <a:solidFill>
                  <a:srgbClr val="15242C"/>
                </a:solidFill>
                <a:latin typeface="Calibri" pitchFamily="34" charset="0"/>
                <a:ea typeface="Calibri" pitchFamily="34" charset="-122"/>
                <a:cs typeface="Calibri" pitchFamily="34" charset="-120"/>
              </a:rPr>
              <a:t>Zero-shot evaluation + error analysis</a:t>
            </a:r>
            <a:endParaRPr lang="en-US" sz="1250" dirty="0"/>
          </a:p>
        </p:txBody>
      </p:sp>
      <p:sp>
        <p:nvSpPr>
          <p:cNvPr id="26" name="Text 24"/>
          <p:cNvSpPr txBox="1"/>
          <p:nvPr/>
        </p:nvSpPr>
        <p:spPr>
          <a:xfrm>
            <a:off x="5257800" y="3429000"/>
            <a:ext cx="914400" cy="365760"/>
          </a:xfrm>
          <a:prstGeom prst="rect">
            <a:avLst/>
          </a:prstGeom>
          <a:noFill/>
          <a:ln/>
        </p:spPr>
        <p:txBody>
          <a:bodyPr wrap="square" lIns="0" tIns="0" rIns="0" bIns="0"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8–12 h</a:t>
            </a:r>
            <a:endParaRPr lang="en-US" sz="1250" dirty="0"/>
          </a:p>
        </p:txBody>
      </p:sp>
      <p:sp>
        <p:nvSpPr>
          <p:cNvPr id="27" name="Text 25"/>
          <p:cNvSpPr txBox="1"/>
          <p:nvPr/>
        </p:nvSpPr>
        <p:spPr>
          <a:xfrm>
            <a:off x="6355080" y="3429000"/>
            <a:ext cx="1097280" cy="365760"/>
          </a:xfrm>
          <a:prstGeom prst="rect">
            <a:avLst/>
          </a:prstGeom>
          <a:noFill/>
          <a:ln/>
        </p:spPr>
        <p:txBody>
          <a:bodyPr wrap="square" lIns="0" tIns="0" rIns="0" bIns="0" rtlCol="0" anchor="ctr"/>
          <a:lstStyle/>
          <a:p>
            <a:pPr algn="r" indent="0" marL="0">
              <a:buNone/>
            </a:pPr>
            <a:r>
              <a:rPr lang="en-US" sz="1150" b="1" dirty="0">
                <a:solidFill>
                  <a:srgbClr val="3E7C59"/>
                </a:solidFill>
                <a:latin typeface="Calibri" pitchFamily="34" charset="0"/>
                <a:ea typeface="Calibri" pitchFamily="34" charset="-122"/>
                <a:cs typeface="Calibri" pitchFamily="34" charset="-120"/>
              </a:rPr>
              <a:t>Low</a:t>
            </a:r>
            <a:endParaRPr lang="en-US" sz="1150" dirty="0"/>
          </a:p>
        </p:txBody>
      </p:sp>
      <p:sp>
        <p:nvSpPr>
          <p:cNvPr id="28" name="Shape 26"/>
          <p:cNvSpPr/>
          <p:nvPr/>
        </p:nvSpPr>
        <p:spPr>
          <a:xfrm>
            <a:off x="822960" y="3831336"/>
            <a:ext cx="6766560" cy="365760"/>
          </a:xfrm>
          <a:prstGeom prst="rect">
            <a:avLst/>
          </a:prstGeom>
          <a:solidFill>
            <a:srgbClr val="EDF3F6"/>
          </a:solidFill>
          <a:ln w="12700">
            <a:solidFill>
              <a:srgbClr val="E2EAEF"/>
            </a:solidFill>
            <a:prstDash val="solid"/>
          </a:ln>
        </p:spPr>
      </p:sp>
      <p:sp>
        <p:nvSpPr>
          <p:cNvPr id="29" name="Text 27"/>
          <p:cNvSpPr txBox="1"/>
          <p:nvPr/>
        </p:nvSpPr>
        <p:spPr>
          <a:xfrm>
            <a:off x="960120" y="3831336"/>
            <a:ext cx="4297680" cy="365760"/>
          </a:xfrm>
          <a:prstGeom prst="rect">
            <a:avLst/>
          </a:prstGeom>
          <a:noFill/>
          <a:ln/>
        </p:spPr>
        <p:txBody>
          <a:bodyPr wrap="square" lIns="0" tIns="0" rIns="0" bIns="0" rtlCol="0" anchor="ctr"/>
          <a:lstStyle/>
          <a:p>
            <a:pPr indent="0" marL="0">
              <a:buNone/>
            </a:pPr>
            <a:r>
              <a:rPr lang="en-US" sz="1250" dirty="0">
                <a:solidFill>
                  <a:srgbClr val="15242C"/>
                </a:solidFill>
                <a:latin typeface="Calibri" pitchFamily="34" charset="0"/>
                <a:ea typeface="Calibri" pitchFamily="34" charset="-122"/>
                <a:cs typeface="Calibri" pitchFamily="34" charset="-120"/>
              </a:rPr>
              <a:t>Fine-tuning curve (5 sizes × 3 seeds)</a:t>
            </a:r>
            <a:endParaRPr lang="en-US" sz="1250" dirty="0"/>
          </a:p>
        </p:txBody>
      </p:sp>
      <p:sp>
        <p:nvSpPr>
          <p:cNvPr id="30" name="Text 28"/>
          <p:cNvSpPr txBox="1"/>
          <p:nvPr/>
        </p:nvSpPr>
        <p:spPr>
          <a:xfrm>
            <a:off x="5257800" y="3831336"/>
            <a:ext cx="914400" cy="365760"/>
          </a:xfrm>
          <a:prstGeom prst="rect">
            <a:avLst/>
          </a:prstGeom>
          <a:noFill/>
          <a:ln/>
        </p:spPr>
        <p:txBody>
          <a:bodyPr wrap="square" lIns="0" tIns="0" rIns="0" bIns="0"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15–20 h</a:t>
            </a:r>
            <a:endParaRPr lang="en-US" sz="1250" dirty="0"/>
          </a:p>
        </p:txBody>
      </p:sp>
      <p:sp>
        <p:nvSpPr>
          <p:cNvPr id="31" name="Text 29"/>
          <p:cNvSpPr txBox="1"/>
          <p:nvPr/>
        </p:nvSpPr>
        <p:spPr>
          <a:xfrm>
            <a:off x="6355080" y="3831336"/>
            <a:ext cx="1097280" cy="365760"/>
          </a:xfrm>
          <a:prstGeom prst="rect">
            <a:avLst/>
          </a:prstGeom>
          <a:noFill/>
          <a:ln/>
        </p:spPr>
        <p:txBody>
          <a:bodyPr wrap="square" lIns="0" tIns="0" rIns="0" bIns="0" rtlCol="0" anchor="ctr"/>
          <a:lstStyle/>
          <a:p>
            <a:pPr algn="r" indent="0" marL="0">
              <a:buNone/>
            </a:pPr>
            <a:r>
              <a:rPr lang="en-US" sz="1150" b="1" dirty="0">
                <a:solidFill>
                  <a:srgbClr val="E0912F"/>
                </a:solidFill>
                <a:latin typeface="Calibri" pitchFamily="34" charset="0"/>
                <a:ea typeface="Calibri" pitchFamily="34" charset="-122"/>
                <a:cs typeface="Calibri" pitchFamily="34" charset="-120"/>
              </a:rPr>
              <a:t>Medium</a:t>
            </a:r>
            <a:endParaRPr lang="en-US" sz="1150" dirty="0"/>
          </a:p>
        </p:txBody>
      </p:sp>
      <p:sp>
        <p:nvSpPr>
          <p:cNvPr id="32" name="Shape 30"/>
          <p:cNvSpPr/>
          <p:nvPr/>
        </p:nvSpPr>
        <p:spPr>
          <a:xfrm>
            <a:off x="822960" y="4233672"/>
            <a:ext cx="6766560" cy="365760"/>
          </a:xfrm>
          <a:prstGeom prst="rect">
            <a:avLst/>
          </a:prstGeom>
          <a:solidFill>
            <a:srgbClr val="FFFFFF"/>
          </a:solidFill>
          <a:ln w="12700">
            <a:solidFill>
              <a:srgbClr val="E2EAEF"/>
            </a:solidFill>
            <a:prstDash val="solid"/>
          </a:ln>
        </p:spPr>
      </p:sp>
      <p:sp>
        <p:nvSpPr>
          <p:cNvPr id="33" name="Text 31"/>
          <p:cNvSpPr txBox="1"/>
          <p:nvPr/>
        </p:nvSpPr>
        <p:spPr>
          <a:xfrm>
            <a:off x="960120" y="4233672"/>
            <a:ext cx="4297680" cy="365760"/>
          </a:xfrm>
          <a:prstGeom prst="rect">
            <a:avLst/>
          </a:prstGeom>
          <a:noFill/>
          <a:ln/>
        </p:spPr>
        <p:txBody>
          <a:bodyPr wrap="square" lIns="0" tIns="0" rIns="0" bIns="0" rtlCol="0" anchor="ctr"/>
          <a:lstStyle/>
          <a:p>
            <a:pPr indent="0" marL="0">
              <a:buNone/>
            </a:pPr>
            <a:r>
              <a:rPr lang="en-US" sz="1250" dirty="0">
                <a:solidFill>
                  <a:srgbClr val="15242C"/>
                </a:solidFill>
                <a:latin typeface="Calibri" pitchFamily="34" charset="0"/>
                <a:ea typeface="Calibri" pitchFamily="34" charset="-122"/>
                <a:cs typeface="Calibri" pitchFamily="34" charset="-120"/>
              </a:rPr>
              <a:t>HAND + Manaus gauge ground truth</a:t>
            </a:r>
            <a:endParaRPr lang="en-US" sz="1250" dirty="0"/>
          </a:p>
        </p:txBody>
      </p:sp>
      <p:sp>
        <p:nvSpPr>
          <p:cNvPr id="34" name="Text 32"/>
          <p:cNvSpPr txBox="1"/>
          <p:nvPr/>
        </p:nvSpPr>
        <p:spPr>
          <a:xfrm>
            <a:off x="5257800" y="4233672"/>
            <a:ext cx="914400" cy="365760"/>
          </a:xfrm>
          <a:prstGeom prst="rect">
            <a:avLst/>
          </a:prstGeom>
          <a:noFill/>
          <a:ln/>
        </p:spPr>
        <p:txBody>
          <a:bodyPr wrap="square" lIns="0" tIns="0" rIns="0" bIns="0"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20–30 h</a:t>
            </a:r>
            <a:endParaRPr lang="en-US" sz="1250" dirty="0"/>
          </a:p>
        </p:txBody>
      </p:sp>
      <p:sp>
        <p:nvSpPr>
          <p:cNvPr id="35" name="Text 33"/>
          <p:cNvSpPr txBox="1"/>
          <p:nvPr/>
        </p:nvSpPr>
        <p:spPr>
          <a:xfrm>
            <a:off x="6355080" y="4233672"/>
            <a:ext cx="1097280" cy="365760"/>
          </a:xfrm>
          <a:prstGeom prst="rect">
            <a:avLst/>
          </a:prstGeom>
          <a:noFill/>
          <a:ln/>
        </p:spPr>
        <p:txBody>
          <a:bodyPr wrap="square" lIns="0" tIns="0" rIns="0" bIns="0" rtlCol="0" anchor="ctr"/>
          <a:lstStyle/>
          <a:p>
            <a:pPr algn="r" indent="0" marL="0">
              <a:buNone/>
            </a:pPr>
            <a:r>
              <a:rPr lang="en-US" sz="1150" b="1" dirty="0">
                <a:solidFill>
                  <a:srgbClr val="E0912F"/>
                </a:solidFill>
                <a:latin typeface="Calibri" pitchFamily="34" charset="0"/>
                <a:ea typeface="Calibri" pitchFamily="34" charset="-122"/>
                <a:cs typeface="Calibri" pitchFamily="34" charset="-120"/>
              </a:rPr>
              <a:t>Medium</a:t>
            </a:r>
            <a:endParaRPr lang="en-US" sz="1150" dirty="0"/>
          </a:p>
        </p:txBody>
      </p:sp>
      <p:sp>
        <p:nvSpPr>
          <p:cNvPr id="36" name="Shape 34"/>
          <p:cNvSpPr/>
          <p:nvPr/>
        </p:nvSpPr>
        <p:spPr>
          <a:xfrm>
            <a:off x="822960" y="4636008"/>
            <a:ext cx="6766560" cy="365760"/>
          </a:xfrm>
          <a:prstGeom prst="rect">
            <a:avLst/>
          </a:prstGeom>
          <a:solidFill>
            <a:srgbClr val="EDF3F6"/>
          </a:solidFill>
          <a:ln w="12700">
            <a:solidFill>
              <a:srgbClr val="E2EAEF"/>
            </a:solidFill>
            <a:prstDash val="solid"/>
          </a:ln>
        </p:spPr>
      </p:sp>
      <p:sp>
        <p:nvSpPr>
          <p:cNvPr id="37" name="Text 35"/>
          <p:cNvSpPr txBox="1"/>
          <p:nvPr/>
        </p:nvSpPr>
        <p:spPr>
          <a:xfrm>
            <a:off x="960120" y="4636008"/>
            <a:ext cx="4297680" cy="365760"/>
          </a:xfrm>
          <a:prstGeom prst="rect">
            <a:avLst/>
          </a:prstGeom>
          <a:noFill/>
          <a:ln/>
        </p:spPr>
        <p:txBody>
          <a:bodyPr wrap="square" lIns="0" tIns="0" rIns="0" bIns="0" rtlCol="0" anchor="ctr"/>
          <a:lstStyle/>
          <a:p>
            <a:pPr indent="0" marL="0">
              <a:buNone/>
            </a:pPr>
            <a:r>
              <a:rPr lang="en-US" sz="1250" dirty="0">
                <a:solidFill>
                  <a:srgbClr val="15242C"/>
                </a:solidFill>
                <a:latin typeface="Calibri" pitchFamily="34" charset="0"/>
                <a:ea typeface="Calibri" pitchFamily="34" charset="-122"/>
                <a:cs typeface="Calibri" pitchFamily="34" charset="-120"/>
              </a:rPr>
              <a:t>Demo app</a:t>
            </a:r>
            <a:endParaRPr lang="en-US" sz="1250" dirty="0"/>
          </a:p>
        </p:txBody>
      </p:sp>
      <p:sp>
        <p:nvSpPr>
          <p:cNvPr id="38" name="Text 36"/>
          <p:cNvSpPr txBox="1"/>
          <p:nvPr/>
        </p:nvSpPr>
        <p:spPr>
          <a:xfrm>
            <a:off x="5257800" y="4636008"/>
            <a:ext cx="914400" cy="365760"/>
          </a:xfrm>
          <a:prstGeom prst="rect">
            <a:avLst/>
          </a:prstGeom>
          <a:noFill/>
          <a:ln/>
        </p:spPr>
        <p:txBody>
          <a:bodyPr wrap="square" lIns="0" tIns="0" rIns="0" bIns="0"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15–20 h</a:t>
            </a:r>
            <a:endParaRPr lang="en-US" sz="1250" dirty="0"/>
          </a:p>
        </p:txBody>
      </p:sp>
      <p:sp>
        <p:nvSpPr>
          <p:cNvPr id="39" name="Text 37"/>
          <p:cNvSpPr txBox="1"/>
          <p:nvPr/>
        </p:nvSpPr>
        <p:spPr>
          <a:xfrm>
            <a:off x="6355080" y="4636008"/>
            <a:ext cx="1097280" cy="365760"/>
          </a:xfrm>
          <a:prstGeom prst="rect">
            <a:avLst/>
          </a:prstGeom>
          <a:noFill/>
          <a:ln/>
        </p:spPr>
        <p:txBody>
          <a:bodyPr wrap="square" lIns="0" tIns="0" rIns="0" bIns="0" rtlCol="0" anchor="ctr"/>
          <a:lstStyle/>
          <a:p>
            <a:pPr algn="r" indent="0" marL="0">
              <a:buNone/>
            </a:pPr>
            <a:r>
              <a:rPr lang="en-US" sz="1150" b="1" dirty="0">
                <a:solidFill>
                  <a:srgbClr val="3E7C59"/>
                </a:solidFill>
                <a:latin typeface="Calibri" pitchFamily="34" charset="0"/>
                <a:ea typeface="Calibri" pitchFamily="34" charset="-122"/>
                <a:cs typeface="Calibri" pitchFamily="34" charset="-120"/>
              </a:rPr>
              <a:t>Low</a:t>
            </a:r>
            <a:endParaRPr lang="en-US" sz="1150" dirty="0"/>
          </a:p>
        </p:txBody>
      </p:sp>
      <p:sp>
        <p:nvSpPr>
          <p:cNvPr id="40" name="Shape 38"/>
          <p:cNvSpPr/>
          <p:nvPr/>
        </p:nvSpPr>
        <p:spPr>
          <a:xfrm>
            <a:off x="822960" y="5038344"/>
            <a:ext cx="6766560" cy="365760"/>
          </a:xfrm>
          <a:prstGeom prst="rect">
            <a:avLst/>
          </a:prstGeom>
          <a:solidFill>
            <a:srgbClr val="FFFFFF"/>
          </a:solidFill>
          <a:ln w="12700">
            <a:solidFill>
              <a:srgbClr val="E2EAEF"/>
            </a:solidFill>
            <a:prstDash val="solid"/>
          </a:ln>
        </p:spPr>
      </p:sp>
      <p:sp>
        <p:nvSpPr>
          <p:cNvPr id="41" name="Text 39"/>
          <p:cNvSpPr txBox="1"/>
          <p:nvPr/>
        </p:nvSpPr>
        <p:spPr>
          <a:xfrm>
            <a:off x="960120" y="5038344"/>
            <a:ext cx="4297680" cy="365760"/>
          </a:xfrm>
          <a:prstGeom prst="rect">
            <a:avLst/>
          </a:prstGeom>
          <a:noFill/>
          <a:ln/>
        </p:spPr>
        <p:txBody>
          <a:bodyPr wrap="square" lIns="0" tIns="0" rIns="0" bIns="0" rtlCol="0" anchor="ctr"/>
          <a:lstStyle/>
          <a:p>
            <a:pPr indent="0" marL="0">
              <a:buNone/>
            </a:pPr>
            <a:r>
              <a:rPr lang="en-US" sz="1250" dirty="0">
                <a:solidFill>
                  <a:srgbClr val="15242C"/>
                </a:solidFill>
                <a:latin typeface="Calibri" pitchFamily="34" charset="0"/>
                <a:ea typeface="Calibri" pitchFamily="34" charset="-122"/>
                <a:cs typeface="Calibri" pitchFamily="34" charset="-120"/>
              </a:rPr>
              <a:t>Integration, report, slides, meetings</a:t>
            </a:r>
            <a:endParaRPr lang="en-US" sz="1250" dirty="0"/>
          </a:p>
        </p:txBody>
      </p:sp>
      <p:sp>
        <p:nvSpPr>
          <p:cNvPr id="42" name="Text 40"/>
          <p:cNvSpPr txBox="1"/>
          <p:nvPr/>
        </p:nvSpPr>
        <p:spPr>
          <a:xfrm>
            <a:off x="5257800" y="5038344"/>
            <a:ext cx="914400" cy="365760"/>
          </a:xfrm>
          <a:prstGeom prst="rect">
            <a:avLst/>
          </a:prstGeom>
          <a:noFill/>
          <a:ln/>
        </p:spPr>
        <p:txBody>
          <a:bodyPr wrap="square" lIns="0" tIns="0" rIns="0" bIns="0" rtlCol="0" anchor="ctr"/>
          <a:lstStyle/>
          <a:p>
            <a:pPr algn="r" indent="0" marL="0">
              <a:buNone/>
            </a:pPr>
            <a:r>
              <a:rPr lang="en-US" sz="1250" b="1" dirty="0">
                <a:solidFill>
                  <a:srgbClr val="1C7293"/>
                </a:solidFill>
                <a:latin typeface="Calibri" pitchFamily="34" charset="0"/>
                <a:ea typeface="Calibri" pitchFamily="34" charset="-122"/>
                <a:cs typeface="Calibri" pitchFamily="34" charset="-120"/>
              </a:rPr>
              <a:t>30–40 h</a:t>
            </a:r>
            <a:endParaRPr lang="en-US" sz="1250" dirty="0"/>
          </a:p>
        </p:txBody>
      </p:sp>
      <p:sp>
        <p:nvSpPr>
          <p:cNvPr id="43" name="Text 41"/>
          <p:cNvSpPr txBox="1"/>
          <p:nvPr/>
        </p:nvSpPr>
        <p:spPr>
          <a:xfrm>
            <a:off x="6355080" y="5038344"/>
            <a:ext cx="1097280" cy="365760"/>
          </a:xfrm>
          <a:prstGeom prst="rect">
            <a:avLst/>
          </a:prstGeom>
          <a:noFill/>
          <a:ln/>
        </p:spPr>
        <p:txBody>
          <a:bodyPr wrap="square" lIns="0" tIns="0" rIns="0" bIns="0" rtlCol="0" anchor="ctr"/>
          <a:lstStyle/>
          <a:p>
            <a:pPr algn="r" indent="0" marL="0">
              <a:buNone/>
            </a:pPr>
            <a:r>
              <a:rPr lang="en-US" sz="1150" b="1" dirty="0">
                <a:solidFill>
                  <a:srgbClr val="5B6B73"/>
                </a:solidFill>
                <a:latin typeface="Calibri" pitchFamily="34" charset="0"/>
                <a:ea typeface="Calibri" pitchFamily="34" charset="-122"/>
                <a:cs typeface="Calibri" pitchFamily="34" charset="-120"/>
              </a:rPr>
              <a:t>—</a:t>
            </a:r>
            <a:endParaRPr lang="en-US" sz="1150" dirty="0"/>
          </a:p>
        </p:txBody>
      </p:sp>
      <p:sp>
        <p:nvSpPr>
          <p:cNvPr id="44" name="Shape 42"/>
          <p:cNvSpPr/>
          <p:nvPr/>
        </p:nvSpPr>
        <p:spPr>
          <a:xfrm>
            <a:off x="822960" y="5486400"/>
            <a:ext cx="6766560" cy="457200"/>
          </a:xfrm>
          <a:prstGeom prst="rect">
            <a:avLst/>
          </a:prstGeom>
          <a:solidFill>
            <a:srgbClr val="0F3B57"/>
          </a:solidFill>
          <a:ln/>
        </p:spPr>
      </p:sp>
      <p:sp>
        <p:nvSpPr>
          <p:cNvPr id="45" name="Text 43"/>
          <p:cNvSpPr txBox="1"/>
          <p:nvPr/>
        </p:nvSpPr>
        <p:spPr>
          <a:xfrm>
            <a:off x="960120" y="5486400"/>
            <a:ext cx="365760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Total estimate</a:t>
            </a:r>
            <a:endParaRPr lang="en-US" sz="1400" dirty="0"/>
          </a:p>
        </p:txBody>
      </p:sp>
      <p:sp>
        <p:nvSpPr>
          <p:cNvPr id="46" name="Text 44"/>
          <p:cNvSpPr txBox="1"/>
          <p:nvPr/>
        </p:nvSpPr>
        <p:spPr>
          <a:xfrm>
            <a:off x="4206240" y="5486400"/>
            <a:ext cx="3200400" cy="457200"/>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200–275 person-hours</a:t>
            </a:r>
            <a:endParaRPr lang="en-US" sz="1400" dirty="0"/>
          </a:p>
        </p:txBody>
      </p:sp>
      <p:sp>
        <p:nvSpPr>
          <p:cNvPr id="47" name="Shape 45"/>
          <p:cNvSpPr/>
          <p:nvPr/>
        </p:nvSpPr>
        <p:spPr>
          <a:xfrm>
            <a:off x="8001000" y="1417320"/>
            <a:ext cx="3337560" cy="2377440"/>
          </a:xfrm>
          <a:prstGeom prst="roundRect">
            <a:avLst>
              <a:gd name="adj" fmla="val 3077"/>
            </a:avLst>
          </a:prstGeom>
          <a:solidFill>
            <a:srgbClr val="E8EFF3"/>
          </a:solidFill>
          <a:ln w="12700">
            <a:solidFill>
              <a:srgbClr val="D5E1E8"/>
            </a:solidFill>
            <a:prstDash val="solid"/>
          </a:ln>
        </p:spPr>
      </p:sp>
      <p:sp>
        <p:nvSpPr>
          <p:cNvPr id="48" name="Text 46"/>
          <p:cNvSpPr txBox="1"/>
          <p:nvPr/>
        </p:nvSpPr>
        <p:spPr>
          <a:xfrm>
            <a:off x="8183880" y="1536192"/>
            <a:ext cx="2926080" cy="320040"/>
          </a:xfrm>
          <a:prstGeom prst="rect">
            <a:avLst/>
          </a:prstGeom>
          <a:noFill/>
          <a:ln/>
        </p:spPr>
        <p:txBody>
          <a:bodyPr wrap="square" lIns="0" tIns="0" rIns="0" bIns="0" rtlCol="0" anchor="ctr"/>
          <a:lstStyle/>
          <a:p>
            <a:pPr indent="0" marL="0">
              <a:buNone/>
            </a:pPr>
            <a:r>
              <a:rPr lang="en-US" sz="1500" b="1" dirty="0">
                <a:solidFill>
                  <a:srgbClr val="0F3B57"/>
                </a:solidFill>
                <a:latin typeface="Cambria" pitchFamily="34" charset="0"/>
                <a:ea typeface="Cambria" pitchFamily="34" charset="-122"/>
                <a:cs typeface="Cambria" pitchFamily="34" charset="-120"/>
              </a:rPr>
              <a:t>Budget vs estimate</a:t>
            </a:r>
            <a:endParaRPr lang="en-US" sz="1500" dirty="0"/>
          </a:p>
        </p:txBody>
      </p:sp>
      <p:sp>
        <p:nvSpPr>
          <p:cNvPr id="49" name="Text 47"/>
          <p:cNvSpPr txBox="1"/>
          <p:nvPr/>
        </p:nvSpPr>
        <p:spPr>
          <a:xfrm>
            <a:off x="8183880" y="1920240"/>
            <a:ext cx="2926080" cy="274320"/>
          </a:xfrm>
          <a:prstGeom prst="rect">
            <a:avLst/>
          </a:prstGeom>
          <a:noFill/>
          <a:ln/>
        </p:spPr>
        <p:txBody>
          <a:bodyPr wrap="square" lIns="0" tIns="0" rIns="0" bIns="0" rtlCol="0" anchor="ctr"/>
          <a:lstStyle/>
          <a:p>
            <a:pPr indent="0" marL="0">
              <a:buNone/>
            </a:pPr>
            <a:r>
              <a:rPr lang="en-US" sz="1200" dirty="0">
                <a:solidFill>
                  <a:srgbClr val="5B6B73"/>
                </a:solidFill>
                <a:latin typeface="Calibri" pitchFamily="34" charset="0"/>
                <a:ea typeface="Calibri" pitchFamily="34" charset="-122"/>
                <a:cs typeface="Calibri" pitchFamily="34" charset="-120"/>
              </a:rPr>
              <a:t>Available: 260–300 h</a:t>
            </a:r>
            <a:endParaRPr lang="en-US" sz="1200" dirty="0"/>
          </a:p>
        </p:txBody>
      </p:sp>
      <p:sp>
        <p:nvSpPr>
          <p:cNvPr id="50" name="Shape 48"/>
          <p:cNvSpPr/>
          <p:nvPr/>
        </p:nvSpPr>
        <p:spPr>
          <a:xfrm>
            <a:off x="8183880" y="2212848"/>
            <a:ext cx="2926080" cy="274320"/>
          </a:xfrm>
          <a:prstGeom prst="rect">
            <a:avLst/>
          </a:prstGeom>
          <a:solidFill>
            <a:srgbClr val="BFD6E2"/>
          </a:solidFill>
          <a:ln/>
        </p:spPr>
      </p:sp>
      <p:sp>
        <p:nvSpPr>
          <p:cNvPr id="51" name="Text 49"/>
          <p:cNvSpPr txBox="1"/>
          <p:nvPr/>
        </p:nvSpPr>
        <p:spPr>
          <a:xfrm>
            <a:off x="8183880" y="2606040"/>
            <a:ext cx="2926080" cy="274320"/>
          </a:xfrm>
          <a:prstGeom prst="rect">
            <a:avLst/>
          </a:prstGeom>
          <a:noFill/>
          <a:ln/>
        </p:spPr>
        <p:txBody>
          <a:bodyPr wrap="square" lIns="0" tIns="0" rIns="0" bIns="0" rtlCol="0" anchor="ctr"/>
          <a:lstStyle/>
          <a:p>
            <a:pPr indent="0" marL="0">
              <a:buNone/>
            </a:pPr>
            <a:r>
              <a:rPr lang="en-US" sz="1200" dirty="0">
                <a:solidFill>
                  <a:srgbClr val="5B6B73"/>
                </a:solidFill>
                <a:latin typeface="Calibri" pitchFamily="34" charset="0"/>
                <a:ea typeface="Calibri" pitchFamily="34" charset="-122"/>
                <a:cs typeface="Calibri" pitchFamily="34" charset="-120"/>
              </a:rPr>
              <a:t>Needed: 200–275 h</a:t>
            </a:r>
            <a:endParaRPr lang="en-US" sz="1200" dirty="0"/>
          </a:p>
        </p:txBody>
      </p:sp>
      <p:sp>
        <p:nvSpPr>
          <p:cNvPr id="52" name="Shape 50"/>
          <p:cNvSpPr/>
          <p:nvPr/>
        </p:nvSpPr>
        <p:spPr>
          <a:xfrm>
            <a:off x="8183880" y="2898648"/>
            <a:ext cx="2514600" cy="274320"/>
          </a:xfrm>
          <a:prstGeom prst="rect">
            <a:avLst/>
          </a:prstGeom>
          <a:solidFill>
            <a:srgbClr val="1C7293"/>
          </a:solidFill>
          <a:ln/>
        </p:spPr>
      </p:sp>
      <p:sp>
        <p:nvSpPr>
          <p:cNvPr id="53" name="Text 51"/>
          <p:cNvSpPr txBox="1"/>
          <p:nvPr/>
        </p:nvSpPr>
        <p:spPr>
          <a:xfrm>
            <a:off x="8183880" y="3291840"/>
            <a:ext cx="2926080" cy="320040"/>
          </a:xfrm>
          <a:prstGeom prst="rect">
            <a:avLst/>
          </a:prstGeom>
          <a:noFill/>
          <a:ln/>
        </p:spPr>
        <p:txBody>
          <a:bodyPr wrap="square" lIns="0" tIns="0" rIns="0" bIns="0" rtlCol="0" anchor="ctr"/>
          <a:lstStyle/>
          <a:p>
            <a:pPr indent="0" marL="0">
              <a:buNone/>
            </a:pPr>
            <a:r>
              <a:rPr lang="en-US" sz="1250" b="1" dirty="0">
                <a:solidFill>
                  <a:srgbClr val="0F3B57"/>
                </a:solidFill>
                <a:latin typeface="Calibri" pitchFamily="34" charset="0"/>
                <a:ea typeface="Calibri" pitchFamily="34" charset="-122"/>
                <a:cs typeface="Calibri" pitchFamily="34" charset="-120"/>
              </a:rPr>
              <a:t>It fits — but with almost no slack.</a:t>
            </a:r>
            <a:endParaRPr lang="en-US" sz="1250" dirty="0"/>
          </a:p>
        </p:txBody>
      </p:sp>
      <p:sp>
        <p:nvSpPr>
          <p:cNvPr id="54" name="Shape 52"/>
          <p:cNvSpPr/>
          <p:nvPr/>
        </p:nvSpPr>
        <p:spPr>
          <a:xfrm>
            <a:off x="8001000" y="3977640"/>
            <a:ext cx="3337560" cy="1965960"/>
          </a:xfrm>
          <a:prstGeom prst="roundRect">
            <a:avLst>
              <a:gd name="adj" fmla="val 3721"/>
            </a:avLst>
          </a:prstGeom>
          <a:solidFill>
            <a:srgbClr val="FDF3E3"/>
          </a:solidFill>
          <a:ln w="12700">
            <a:solidFill>
              <a:srgbClr val="E0912F"/>
            </a:solidFill>
            <a:prstDash val="solid"/>
          </a:ln>
        </p:spPr>
      </p:sp>
      <p:sp>
        <p:nvSpPr>
          <p:cNvPr id="55" name="Text 53"/>
          <p:cNvSpPr txBox="1"/>
          <p:nvPr/>
        </p:nvSpPr>
        <p:spPr>
          <a:xfrm>
            <a:off x="8183880" y="4096512"/>
            <a:ext cx="2926080" cy="320040"/>
          </a:xfrm>
          <a:prstGeom prst="rect">
            <a:avLst/>
          </a:prstGeom>
          <a:noFill/>
          <a:ln/>
        </p:spPr>
        <p:txBody>
          <a:bodyPr wrap="square" lIns="0" tIns="0" rIns="0" bIns="0" rtlCol="0" anchor="ctr"/>
          <a:lstStyle/>
          <a:p>
            <a:pPr indent="0" marL="0">
              <a:buNone/>
            </a:pPr>
            <a:r>
              <a:rPr lang="en-US" sz="1500" b="1" dirty="0">
                <a:solidFill>
                  <a:srgbClr val="0F3B57"/>
                </a:solidFill>
                <a:latin typeface="Cambria" pitchFamily="34" charset="0"/>
                <a:ea typeface="Cambria" pitchFamily="34" charset="-122"/>
                <a:cs typeface="Cambria" pitchFamily="34" charset="-120"/>
              </a:rPr>
              <a:t>If week 5 slips</a:t>
            </a:r>
            <a:endParaRPr lang="en-US" sz="1500" dirty="0"/>
          </a:p>
        </p:txBody>
      </p:sp>
      <p:sp>
        <p:nvSpPr>
          <p:cNvPr id="56" name="Text 54"/>
          <p:cNvSpPr txBox="1"/>
          <p:nvPr/>
        </p:nvSpPr>
        <p:spPr>
          <a:xfrm>
            <a:off x="8183880" y="4462272"/>
            <a:ext cx="2926080" cy="13716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5242C"/>
                </a:solidFill>
                <a:latin typeface="Calibri" pitchFamily="34" charset="0"/>
                <a:ea typeface="Calibri" pitchFamily="34" charset="-122"/>
                <a:cs typeface="Calibri" pitchFamily="34" charset="-120"/>
              </a:rPr>
              <a:t>Cut the baseline to one model instead of four</a:t>
            </a:r>
            <a:endParaRPr lang="en-US" sz="1150" dirty="0"/>
          </a:p>
          <a:p>
            <a:pPr marL="342900" indent="-342900">
              <a:spcAft>
                <a:spcPts val="600"/>
              </a:spcAft>
              <a:buSzPct val="100000"/>
              <a:buChar char="•"/>
            </a:pPr>
            <a:r>
              <a:rPr lang="en-US" sz="1150" dirty="0">
                <a:solidFill>
                  <a:srgbClr val="15242C"/>
                </a:solidFill>
                <a:latin typeface="Calibri" pitchFamily="34" charset="0"/>
                <a:ea typeface="Calibri" pitchFamily="34" charset="-122"/>
                <a:cs typeface="Calibri" pitchFamily="34" charset="-120"/>
              </a:rPr>
              <a:t>Storage, not GPU, is the constraint: chip locally, upload only chips (~100 MB)</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94360"/>
          </a:xfrm>
          <a:prstGeom prst="rect">
            <a:avLst/>
          </a:prstGeom>
          <a:noFill/>
          <a:ln/>
        </p:spPr>
        <p:txBody>
          <a:bodyPr wrap="square" rtlCol="0" anchor="ctr"/>
          <a:lstStyle/>
          <a:p>
            <a:pPr indent="0" marL="0">
              <a:buNone/>
            </a:pPr>
            <a:r>
              <a:rPr lang="en-US" sz="3000" b="1" dirty="0">
                <a:solidFill>
                  <a:srgbClr val="0F3B57"/>
                </a:solidFill>
                <a:latin typeface="Cambria" pitchFamily="34" charset="0"/>
                <a:ea typeface="Cambria" pitchFamily="34" charset="-122"/>
                <a:cs typeface="Cambria" pitchFamily="34" charset="-120"/>
              </a:rPr>
              <a:t>Main tasks before the midterm review — and who owns each</a:t>
            </a:r>
            <a:endParaRPr lang="en-US" sz="3000" dirty="0"/>
          </a:p>
        </p:txBody>
      </p:sp>
      <p:sp>
        <p:nvSpPr>
          <p:cNvPr id="3" name="Text 1"/>
          <p:cNvSpPr txBox="1"/>
          <p:nvPr/>
        </p:nvSpPr>
        <p:spPr>
          <a:xfrm>
            <a:off x="566928" y="914400"/>
            <a:ext cx="11064240" cy="347472"/>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Weeks of Sep 23 → late October. Every task has one named owner.</a:t>
            </a:r>
            <a:endParaRPr lang="en-US" sz="1500" dirty="0"/>
          </a:p>
        </p:txBody>
      </p:sp>
      <p:sp>
        <p:nvSpPr>
          <p:cNvPr id="4" name="Text 2"/>
          <p:cNvSpPr txBox="1"/>
          <p:nvPr/>
        </p:nvSpPr>
        <p:spPr>
          <a:xfrm>
            <a:off x="5943600" y="1371600"/>
            <a:ext cx="1051560" cy="274320"/>
          </a:xfrm>
          <a:prstGeom prst="rect">
            <a:avLst/>
          </a:prstGeom>
          <a:noFill/>
          <a:ln/>
        </p:spPr>
        <p:txBody>
          <a:bodyPr wrap="square" lIns="0" tIns="0" rIns="0" bIns="0" rtlCol="0" anchor="ctr"/>
          <a:lstStyle/>
          <a:p>
            <a:pPr algn="ctr" indent="0" marL="0">
              <a:buNone/>
            </a:pPr>
            <a:r>
              <a:rPr lang="en-US" sz="1200" b="1" dirty="0">
                <a:solidFill>
                  <a:srgbClr val="5B6B73"/>
                </a:solidFill>
                <a:latin typeface="Calibri" pitchFamily="34" charset="0"/>
                <a:ea typeface="Calibri" pitchFamily="34" charset="-122"/>
                <a:cs typeface="Calibri" pitchFamily="34" charset="-120"/>
              </a:rPr>
              <a:t>W1</a:t>
            </a:r>
            <a:endParaRPr lang="en-US" sz="1200" dirty="0"/>
          </a:p>
        </p:txBody>
      </p:sp>
      <p:sp>
        <p:nvSpPr>
          <p:cNvPr id="5" name="Text 3"/>
          <p:cNvSpPr txBox="1"/>
          <p:nvPr/>
        </p:nvSpPr>
        <p:spPr>
          <a:xfrm>
            <a:off x="6995160" y="1371600"/>
            <a:ext cx="1051560" cy="274320"/>
          </a:xfrm>
          <a:prstGeom prst="rect">
            <a:avLst/>
          </a:prstGeom>
          <a:noFill/>
          <a:ln/>
        </p:spPr>
        <p:txBody>
          <a:bodyPr wrap="square" lIns="0" tIns="0" rIns="0" bIns="0" rtlCol="0" anchor="ctr"/>
          <a:lstStyle/>
          <a:p>
            <a:pPr algn="ctr" indent="0" marL="0">
              <a:buNone/>
            </a:pPr>
            <a:r>
              <a:rPr lang="en-US" sz="1200" b="1" dirty="0">
                <a:solidFill>
                  <a:srgbClr val="5B6B73"/>
                </a:solidFill>
                <a:latin typeface="Calibri" pitchFamily="34" charset="0"/>
                <a:ea typeface="Calibri" pitchFamily="34" charset="-122"/>
                <a:cs typeface="Calibri" pitchFamily="34" charset="-120"/>
              </a:rPr>
              <a:t>W2</a:t>
            </a:r>
            <a:endParaRPr lang="en-US" sz="1200" dirty="0"/>
          </a:p>
        </p:txBody>
      </p:sp>
      <p:sp>
        <p:nvSpPr>
          <p:cNvPr id="6" name="Text 4"/>
          <p:cNvSpPr txBox="1"/>
          <p:nvPr/>
        </p:nvSpPr>
        <p:spPr>
          <a:xfrm>
            <a:off x="8046720" y="1371600"/>
            <a:ext cx="1051560" cy="274320"/>
          </a:xfrm>
          <a:prstGeom prst="rect">
            <a:avLst/>
          </a:prstGeom>
          <a:noFill/>
          <a:ln/>
        </p:spPr>
        <p:txBody>
          <a:bodyPr wrap="square" lIns="0" tIns="0" rIns="0" bIns="0" rtlCol="0" anchor="ctr"/>
          <a:lstStyle/>
          <a:p>
            <a:pPr algn="ctr" indent="0" marL="0">
              <a:buNone/>
            </a:pPr>
            <a:r>
              <a:rPr lang="en-US" sz="1200" b="1" dirty="0">
                <a:solidFill>
                  <a:srgbClr val="5B6B73"/>
                </a:solidFill>
                <a:latin typeface="Calibri" pitchFamily="34" charset="0"/>
                <a:ea typeface="Calibri" pitchFamily="34" charset="-122"/>
                <a:cs typeface="Calibri" pitchFamily="34" charset="-120"/>
              </a:rPr>
              <a:t>W3</a:t>
            </a:r>
            <a:endParaRPr lang="en-US" sz="1200" dirty="0"/>
          </a:p>
        </p:txBody>
      </p:sp>
      <p:sp>
        <p:nvSpPr>
          <p:cNvPr id="7" name="Text 5"/>
          <p:cNvSpPr txBox="1"/>
          <p:nvPr/>
        </p:nvSpPr>
        <p:spPr>
          <a:xfrm>
            <a:off x="9098280" y="1371600"/>
            <a:ext cx="1051560" cy="274320"/>
          </a:xfrm>
          <a:prstGeom prst="rect">
            <a:avLst/>
          </a:prstGeom>
          <a:noFill/>
          <a:ln/>
        </p:spPr>
        <p:txBody>
          <a:bodyPr wrap="square" lIns="0" tIns="0" rIns="0" bIns="0" rtlCol="0" anchor="ctr"/>
          <a:lstStyle/>
          <a:p>
            <a:pPr algn="ctr" indent="0" marL="0">
              <a:buNone/>
            </a:pPr>
            <a:r>
              <a:rPr lang="en-US" sz="1200" b="1" dirty="0">
                <a:solidFill>
                  <a:srgbClr val="5B6B73"/>
                </a:solidFill>
                <a:latin typeface="Calibri" pitchFamily="34" charset="0"/>
                <a:ea typeface="Calibri" pitchFamily="34" charset="-122"/>
                <a:cs typeface="Calibri" pitchFamily="34" charset="-120"/>
              </a:rPr>
              <a:t>W4</a:t>
            </a:r>
            <a:endParaRPr lang="en-US" sz="1200" dirty="0"/>
          </a:p>
        </p:txBody>
      </p:sp>
      <p:sp>
        <p:nvSpPr>
          <p:cNvPr id="8" name="Text 6"/>
          <p:cNvSpPr txBox="1"/>
          <p:nvPr/>
        </p:nvSpPr>
        <p:spPr>
          <a:xfrm>
            <a:off x="10149840" y="1371600"/>
            <a:ext cx="1051560" cy="274320"/>
          </a:xfrm>
          <a:prstGeom prst="rect">
            <a:avLst/>
          </a:prstGeom>
          <a:noFill/>
          <a:ln/>
        </p:spPr>
        <p:txBody>
          <a:bodyPr wrap="square" lIns="0" tIns="0" rIns="0" bIns="0" rtlCol="0" anchor="ctr"/>
          <a:lstStyle/>
          <a:p>
            <a:pPr algn="ctr" indent="0" marL="0">
              <a:buNone/>
            </a:pPr>
            <a:r>
              <a:rPr lang="en-US" sz="1200" b="1" dirty="0">
                <a:solidFill>
                  <a:srgbClr val="5B6B73"/>
                </a:solidFill>
                <a:latin typeface="Calibri" pitchFamily="34" charset="0"/>
                <a:ea typeface="Calibri" pitchFamily="34" charset="-122"/>
                <a:cs typeface="Calibri" pitchFamily="34" charset="-120"/>
              </a:rPr>
              <a:t>W5</a:t>
            </a:r>
            <a:endParaRPr lang="en-US" sz="1200" dirty="0"/>
          </a:p>
        </p:txBody>
      </p:sp>
      <p:sp>
        <p:nvSpPr>
          <p:cNvPr id="9" name="Shape 7"/>
          <p:cNvSpPr/>
          <p:nvPr/>
        </p:nvSpPr>
        <p:spPr>
          <a:xfrm>
            <a:off x="822960" y="1783080"/>
            <a:ext cx="10515600" cy="777240"/>
          </a:xfrm>
          <a:prstGeom prst="roundRect">
            <a:avLst>
              <a:gd name="adj" fmla="val 9412"/>
            </a:avLst>
          </a:prstGeom>
          <a:solidFill>
            <a:srgbClr val="EDF3F6"/>
          </a:solidFill>
          <a:ln w="12700">
            <a:solidFill>
              <a:srgbClr val="D5E1E8"/>
            </a:solidFill>
            <a:prstDash val="solid"/>
          </a:ln>
        </p:spPr>
      </p:sp>
      <p:sp>
        <p:nvSpPr>
          <p:cNvPr id="10" name="Text 8"/>
          <p:cNvSpPr txBox="1"/>
          <p:nvPr/>
        </p:nvSpPr>
        <p:spPr>
          <a:xfrm>
            <a:off x="1005840" y="1856232"/>
            <a:ext cx="2377440" cy="320040"/>
          </a:xfrm>
          <a:prstGeom prst="rect">
            <a:avLst/>
          </a:prstGeom>
          <a:noFill/>
          <a:ln/>
        </p:spPr>
        <p:txBody>
          <a:bodyPr wrap="square" lIns="0" tIns="0" rIns="0" bIns="0" rtlCol="0" anchor="ctr"/>
          <a:lstStyle/>
          <a:p>
            <a:pPr indent="0" marL="0">
              <a:buNone/>
            </a:pPr>
            <a:r>
              <a:rPr lang="en-US" sz="1450" b="1" dirty="0">
                <a:solidFill>
                  <a:srgbClr val="0F3B57"/>
                </a:solidFill>
                <a:latin typeface="Cambria" pitchFamily="34" charset="0"/>
                <a:ea typeface="Cambria" pitchFamily="34" charset="-122"/>
                <a:cs typeface="Cambria" pitchFamily="34" charset="-120"/>
              </a:rPr>
              <a:t>Varun Teja Chundru</a:t>
            </a:r>
            <a:endParaRPr lang="en-US" sz="1450" dirty="0"/>
          </a:p>
        </p:txBody>
      </p:sp>
      <p:sp>
        <p:nvSpPr>
          <p:cNvPr id="11" name="Text 9"/>
          <p:cNvSpPr txBox="1"/>
          <p:nvPr/>
        </p:nvSpPr>
        <p:spPr>
          <a:xfrm>
            <a:off x="1005840" y="2185416"/>
            <a:ext cx="4754880" cy="320040"/>
          </a:xfrm>
          <a:prstGeom prst="rect">
            <a:avLst/>
          </a:prstGeom>
          <a:noFill/>
          <a:ln/>
        </p:spPr>
        <p:txBody>
          <a:bodyPr wrap="square" lIns="0" tIns="0" rIns="0" bIns="0" rtlCol="0" anchor="ctr"/>
          <a:lstStyle/>
          <a:p>
            <a:pPr indent="0" marL="0">
              <a:buNone/>
            </a:pPr>
            <a:r>
              <a:rPr lang="en-US" sz="1200" dirty="0">
                <a:solidFill>
                  <a:srgbClr val="15242C"/>
                </a:solidFill>
                <a:latin typeface="Calibri" pitchFamily="34" charset="0"/>
                <a:ea typeface="Calibri" pitchFamily="34" charset="-122"/>
                <a:cs typeface="Calibri" pitchFamily="34" charset="-120"/>
              </a:rPr>
              <a:t>NISAR pipeline: granule selection, γ⁰, chipping; repo + PR review</a:t>
            </a:r>
            <a:endParaRPr lang="en-US" sz="1200" dirty="0"/>
          </a:p>
        </p:txBody>
      </p:sp>
      <p:sp>
        <p:nvSpPr>
          <p:cNvPr id="12" name="Shape 10"/>
          <p:cNvSpPr/>
          <p:nvPr/>
        </p:nvSpPr>
        <p:spPr>
          <a:xfrm>
            <a:off x="5943600" y="2039112"/>
            <a:ext cx="4206240" cy="292608"/>
          </a:xfrm>
          <a:prstGeom prst="roundRect">
            <a:avLst>
              <a:gd name="adj" fmla="val 18750"/>
            </a:avLst>
          </a:prstGeom>
          <a:solidFill>
            <a:srgbClr val="0F3B57"/>
          </a:solidFill>
          <a:ln/>
        </p:spPr>
      </p:sp>
      <p:sp>
        <p:nvSpPr>
          <p:cNvPr id="13" name="Shape 11"/>
          <p:cNvSpPr/>
          <p:nvPr/>
        </p:nvSpPr>
        <p:spPr>
          <a:xfrm>
            <a:off x="822960" y="2715768"/>
            <a:ext cx="10515600" cy="777240"/>
          </a:xfrm>
          <a:prstGeom prst="roundRect">
            <a:avLst>
              <a:gd name="adj" fmla="val 9412"/>
            </a:avLst>
          </a:prstGeom>
          <a:solidFill>
            <a:srgbClr val="FFFFFF"/>
          </a:solidFill>
          <a:ln w="12700">
            <a:solidFill>
              <a:srgbClr val="D5E1E8"/>
            </a:solidFill>
            <a:prstDash val="solid"/>
          </a:ln>
        </p:spPr>
      </p:sp>
      <p:sp>
        <p:nvSpPr>
          <p:cNvPr id="14" name="Text 12"/>
          <p:cNvSpPr txBox="1"/>
          <p:nvPr/>
        </p:nvSpPr>
        <p:spPr>
          <a:xfrm>
            <a:off x="1005840" y="2788920"/>
            <a:ext cx="2377440" cy="320040"/>
          </a:xfrm>
          <a:prstGeom prst="rect">
            <a:avLst/>
          </a:prstGeom>
          <a:noFill/>
          <a:ln/>
        </p:spPr>
        <p:txBody>
          <a:bodyPr wrap="square" lIns="0" tIns="0" rIns="0" bIns="0" rtlCol="0" anchor="ctr"/>
          <a:lstStyle/>
          <a:p>
            <a:pPr indent="0" marL="0">
              <a:buNone/>
            </a:pPr>
            <a:r>
              <a:rPr lang="en-US" sz="1450" b="1" dirty="0">
                <a:solidFill>
                  <a:srgbClr val="1C7293"/>
                </a:solidFill>
                <a:latin typeface="Cambria" pitchFamily="34" charset="0"/>
                <a:ea typeface="Cambria" pitchFamily="34" charset="-122"/>
                <a:cs typeface="Cambria" pitchFamily="34" charset="-120"/>
              </a:rPr>
              <a:t>Pushan Verma</a:t>
            </a:r>
            <a:endParaRPr lang="en-US" sz="1450" dirty="0"/>
          </a:p>
        </p:txBody>
      </p:sp>
      <p:sp>
        <p:nvSpPr>
          <p:cNvPr id="15" name="Text 13"/>
          <p:cNvSpPr txBox="1"/>
          <p:nvPr/>
        </p:nvSpPr>
        <p:spPr>
          <a:xfrm>
            <a:off x="1005840" y="3118104"/>
            <a:ext cx="4754880" cy="320040"/>
          </a:xfrm>
          <a:prstGeom prst="rect">
            <a:avLst/>
          </a:prstGeom>
          <a:noFill/>
          <a:ln/>
        </p:spPr>
        <p:txBody>
          <a:bodyPr wrap="square" lIns="0" tIns="0" rIns="0" bIns="0" rtlCol="0" anchor="ctr"/>
          <a:lstStyle/>
          <a:p>
            <a:pPr indent="0" marL="0">
              <a:buNone/>
            </a:pPr>
            <a:r>
              <a:rPr lang="en-US" sz="1200" dirty="0">
                <a:solidFill>
                  <a:srgbClr val="15242C"/>
                </a:solidFill>
                <a:latin typeface="Calibri" pitchFamily="34" charset="0"/>
                <a:ea typeface="Calibri" pitchFamily="34" charset="-122"/>
                <a:cs typeface="Calibri" pitchFamily="34" charset="-120"/>
              </a:rPr>
              <a:t>Sen1Floods11 baseline reproduced + ViT/SegFormer source model</a:t>
            </a:r>
            <a:endParaRPr lang="en-US" sz="1200" dirty="0"/>
          </a:p>
        </p:txBody>
      </p:sp>
      <p:sp>
        <p:nvSpPr>
          <p:cNvPr id="16" name="Shape 14"/>
          <p:cNvSpPr/>
          <p:nvPr/>
        </p:nvSpPr>
        <p:spPr>
          <a:xfrm>
            <a:off x="5943600" y="2971800"/>
            <a:ext cx="5257800" cy="292608"/>
          </a:xfrm>
          <a:prstGeom prst="roundRect">
            <a:avLst>
              <a:gd name="adj" fmla="val 18750"/>
            </a:avLst>
          </a:prstGeom>
          <a:solidFill>
            <a:srgbClr val="1C7293"/>
          </a:solidFill>
          <a:ln/>
        </p:spPr>
      </p:sp>
      <p:sp>
        <p:nvSpPr>
          <p:cNvPr id="17" name="Shape 15"/>
          <p:cNvSpPr/>
          <p:nvPr/>
        </p:nvSpPr>
        <p:spPr>
          <a:xfrm>
            <a:off x="822960" y="3648456"/>
            <a:ext cx="10515600" cy="777240"/>
          </a:xfrm>
          <a:prstGeom prst="roundRect">
            <a:avLst>
              <a:gd name="adj" fmla="val 9412"/>
            </a:avLst>
          </a:prstGeom>
          <a:solidFill>
            <a:srgbClr val="EDF3F6"/>
          </a:solidFill>
          <a:ln w="12700">
            <a:solidFill>
              <a:srgbClr val="D5E1E8"/>
            </a:solidFill>
            <a:prstDash val="solid"/>
          </a:ln>
        </p:spPr>
      </p:sp>
      <p:sp>
        <p:nvSpPr>
          <p:cNvPr id="18" name="Text 16"/>
          <p:cNvSpPr txBox="1"/>
          <p:nvPr/>
        </p:nvSpPr>
        <p:spPr>
          <a:xfrm>
            <a:off x="1005840" y="3721608"/>
            <a:ext cx="2377440" cy="320040"/>
          </a:xfrm>
          <a:prstGeom prst="rect">
            <a:avLst/>
          </a:prstGeom>
          <a:noFill/>
          <a:ln/>
        </p:spPr>
        <p:txBody>
          <a:bodyPr wrap="square" lIns="0" tIns="0" rIns="0" bIns="0" rtlCol="0" anchor="ctr"/>
          <a:lstStyle/>
          <a:p>
            <a:pPr indent="0" marL="0">
              <a:buNone/>
            </a:pPr>
            <a:r>
              <a:rPr lang="en-US" sz="1450" b="1" dirty="0">
                <a:solidFill>
                  <a:srgbClr val="E0912F"/>
                </a:solidFill>
                <a:latin typeface="Cambria" pitchFamily="34" charset="0"/>
                <a:ea typeface="Cambria" pitchFamily="34" charset="-122"/>
                <a:cs typeface="Cambria" pitchFamily="34" charset="-120"/>
              </a:rPr>
              <a:t>Nidhi Musale</a:t>
            </a:r>
            <a:endParaRPr lang="en-US" sz="1450" dirty="0"/>
          </a:p>
        </p:txBody>
      </p:sp>
      <p:sp>
        <p:nvSpPr>
          <p:cNvPr id="19" name="Text 17"/>
          <p:cNvSpPr txBox="1"/>
          <p:nvPr/>
        </p:nvSpPr>
        <p:spPr>
          <a:xfrm>
            <a:off x="1005840" y="4050792"/>
            <a:ext cx="4754880" cy="320040"/>
          </a:xfrm>
          <a:prstGeom prst="rect">
            <a:avLst/>
          </a:prstGeom>
          <a:noFill/>
          <a:ln/>
        </p:spPr>
        <p:txBody>
          <a:bodyPr wrap="square" lIns="0" tIns="0" rIns="0" bIns="0" rtlCol="0" anchor="ctr"/>
          <a:lstStyle/>
          <a:p>
            <a:pPr indent="0" marL="0">
              <a:buNone/>
            </a:pPr>
            <a:r>
              <a:rPr lang="en-US" sz="1200" dirty="0">
                <a:solidFill>
                  <a:srgbClr val="15242C"/>
                </a:solidFill>
                <a:latin typeface="Calibri" pitchFamily="34" charset="0"/>
                <a:ea typeface="Calibri" pitchFamily="34" charset="-122"/>
                <a:cs typeface="Calibri" pitchFamily="34" charset="-120"/>
              </a:rPr>
              <a:t>Labelling protocol, tooling, first 25 hand-labelled chips</a:t>
            </a:r>
            <a:endParaRPr lang="en-US" sz="1200" dirty="0"/>
          </a:p>
        </p:txBody>
      </p:sp>
      <p:sp>
        <p:nvSpPr>
          <p:cNvPr id="20" name="Shape 18"/>
          <p:cNvSpPr/>
          <p:nvPr/>
        </p:nvSpPr>
        <p:spPr>
          <a:xfrm>
            <a:off x="6995160" y="3904488"/>
            <a:ext cx="3154680" cy="292608"/>
          </a:xfrm>
          <a:prstGeom prst="roundRect">
            <a:avLst>
              <a:gd name="adj" fmla="val 18750"/>
            </a:avLst>
          </a:prstGeom>
          <a:solidFill>
            <a:srgbClr val="E0912F"/>
          </a:solidFill>
          <a:ln/>
        </p:spPr>
      </p:sp>
      <p:sp>
        <p:nvSpPr>
          <p:cNvPr id="21" name="Shape 19"/>
          <p:cNvSpPr/>
          <p:nvPr/>
        </p:nvSpPr>
        <p:spPr>
          <a:xfrm>
            <a:off x="822960" y="4581144"/>
            <a:ext cx="10515600" cy="777240"/>
          </a:xfrm>
          <a:prstGeom prst="roundRect">
            <a:avLst>
              <a:gd name="adj" fmla="val 9412"/>
            </a:avLst>
          </a:prstGeom>
          <a:solidFill>
            <a:srgbClr val="FFFFFF"/>
          </a:solidFill>
          <a:ln w="12700">
            <a:solidFill>
              <a:srgbClr val="D5E1E8"/>
            </a:solidFill>
            <a:prstDash val="solid"/>
          </a:ln>
        </p:spPr>
      </p:sp>
      <p:sp>
        <p:nvSpPr>
          <p:cNvPr id="22" name="Text 20"/>
          <p:cNvSpPr txBox="1"/>
          <p:nvPr/>
        </p:nvSpPr>
        <p:spPr>
          <a:xfrm>
            <a:off x="1005840" y="4654296"/>
            <a:ext cx="2377440" cy="320040"/>
          </a:xfrm>
          <a:prstGeom prst="rect">
            <a:avLst/>
          </a:prstGeom>
          <a:noFill/>
          <a:ln/>
        </p:spPr>
        <p:txBody>
          <a:bodyPr wrap="square" lIns="0" tIns="0" rIns="0" bIns="0" rtlCol="0" anchor="ctr"/>
          <a:lstStyle/>
          <a:p>
            <a:pPr indent="0" marL="0">
              <a:buNone/>
            </a:pPr>
            <a:r>
              <a:rPr lang="en-US" sz="1450" b="1" dirty="0">
                <a:solidFill>
                  <a:srgbClr val="3E7C59"/>
                </a:solidFill>
                <a:latin typeface="Cambria" pitchFamily="34" charset="0"/>
                <a:ea typeface="Cambria" pitchFamily="34" charset="-122"/>
                <a:cs typeface="Cambria" pitchFamily="34" charset="-120"/>
              </a:rPr>
              <a:t>Yashada Ajit Tembe</a:t>
            </a:r>
            <a:endParaRPr lang="en-US" sz="1450" dirty="0"/>
          </a:p>
        </p:txBody>
      </p:sp>
      <p:sp>
        <p:nvSpPr>
          <p:cNvPr id="23" name="Text 21"/>
          <p:cNvSpPr txBox="1"/>
          <p:nvPr/>
        </p:nvSpPr>
        <p:spPr>
          <a:xfrm>
            <a:off x="1005840" y="4983480"/>
            <a:ext cx="4754880" cy="320040"/>
          </a:xfrm>
          <a:prstGeom prst="rect">
            <a:avLst/>
          </a:prstGeom>
          <a:noFill/>
          <a:ln/>
        </p:spPr>
        <p:txBody>
          <a:bodyPr wrap="square" lIns="0" tIns="0" rIns="0" bIns="0" rtlCol="0" anchor="ctr"/>
          <a:lstStyle/>
          <a:p>
            <a:pPr indent="0" marL="0">
              <a:buNone/>
            </a:pPr>
            <a:r>
              <a:rPr lang="en-US" sz="1200" dirty="0">
                <a:solidFill>
                  <a:srgbClr val="15242C"/>
                </a:solidFill>
                <a:latin typeface="Calibri" pitchFamily="34" charset="0"/>
                <a:ea typeface="Calibri" pitchFamily="34" charset="-122"/>
                <a:cs typeface="Calibri" pitchFamily="34" charset="-120"/>
              </a:rPr>
              <a:t>HAND + Manaus gauge ground truth; evaluation + IoU harness</a:t>
            </a:r>
            <a:endParaRPr lang="en-US" sz="1200" dirty="0"/>
          </a:p>
        </p:txBody>
      </p:sp>
      <p:sp>
        <p:nvSpPr>
          <p:cNvPr id="24" name="Shape 22"/>
          <p:cNvSpPr/>
          <p:nvPr/>
        </p:nvSpPr>
        <p:spPr>
          <a:xfrm>
            <a:off x="6995160" y="4837176"/>
            <a:ext cx="3154680" cy="292608"/>
          </a:xfrm>
          <a:prstGeom prst="roundRect">
            <a:avLst>
              <a:gd name="adj" fmla="val 18750"/>
            </a:avLst>
          </a:prstGeom>
          <a:solidFill>
            <a:srgbClr val="3E7C59"/>
          </a:solidFill>
          <a:ln/>
        </p:spPr>
      </p:sp>
      <p:sp>
        <p:nvSpPr>
          <p:cNvPr id="25" name="Shape 23"/>
          <p:cNvSpPr/>
          <p:nvPr/>
        </p:nvSpPr>
        <p:spPr>
          <a:xfrm>
            <a:off x="822960" y="5577840"/>
            <a:ext cx="10515600" cy="685800"/>
          </a:xfrm>
          <a:prstGeom prst="roundRect">
            <a:avLst>
              <a:gd name="adj" fmla="val 10667"/>
            </a:avLst>
          </a:prstGeom>
          <a:solidFill>
            <a:srgbClr val="E8EFF3"/>
          </a:solidFill>
          <a:ln w="12700">
            <a:solidFill>
              <a:srgbClr val="D5E1E8"/>
            </a:solidFill>
            <a:prstDash val="solid"/>
          </a:ln>
        </p:spPr>
      </p:sp>
      <p:sp>
        <p:nvSpPr>
          <p:cNvPr id="26" name="Text 24"/>
          <p:cNvSpPr txBox="1"/>
          <p:nvPr/>
        </p:nvSpPr>
        <p:spPr>
          <a:xfrm>
            <a:off x="1051560" y="5577840"/>
            <a:ext cx="10058400" cy="685800"/>
          </a:xfrm>
          <a:prstGeom prst="rect">
            <a:avLst/>
          </a:prstGeom>
          <a:noFill/>
          <a:ln/>
        </p:spPr>
        <p:txBody>
          <a:bodyPr wrap="square" lIns="0" tIns="0" rIns="0" bIns="0" rtlCol="0" anchor="ctr"/>
          <a:lstStyle/>
          <a:p>
            <a:pPr indent="0" marL="0">
              <a:buNone/>
            </a:pPr>
            <a:r>
              <a:rPr lang="en-US" sz="1350" b="1" dirty="0">
                <a:solidFill>
                  <a:srgbClr val="0F3B57"/>
                </a:solidFill>
                <a:latin typeface="Calibri" pitchFamily="34" charset="0"/>
                <a:ea typeface="Calibri" pitchFamily="34" charset="-122"/>
                <a:cs typeface="Calibri" pitchFamily="34" charset="-120"/>
              </a:rPr>
              <a:t>Shared: 50 chips hand-labelled with a double-labelled subset  ·  Midterm deliverable: zero-shot gap measured on at least one NISAR scene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94360"/>
          </a:xfrm>
          <a:prstGeom prst="rect">
            <a:avLst/>
          </a:prstGeom>
          <a:noFill/>
          <a:ln/>
        </p:spPr>
        <p:txBody>
          <a:bodyPr wrap="square" rtlCol="0" anchor="ctr"/>
          <a:lstStyle/>
          <a:p>
            <a:pPr indent="0" marL="0">
              <a:buNone/>
            </a:pPr>
            <a:r>
              <a:rPr lang="en-US" sz="3000" b="1" dirty="0">
                <a:solidFill>
                  <a:srgbClr val="0F3B57"/>
                </a:solidFill>
                <a:latin typeface="Cambria" pitchFamily="34" charset="0"/>
                <a:ea typeface="Cambria" pitchFamily="34" charset="-122"/>
                <a:cs typeface="Cambria" pitchFamily="34" charset="-120"/>
              </a:rPr>
              <a:t>Risks we already know about — and the planned fix</a:t>
            </a:r>
            <a:endParaRPr lang="en-US" sz="3000" dirty="0"/>
          </a:p>
        </p:txBody>
      </p:sp>
      <p:sp>
        <p:nvSpPr>
          <p:cNvPr id="3" name="Text 1"/>
          <p:cNvSpPr txBox="1"/>
          <p:nvPr/>
        </p:nvSpPr>
        <p:spPr>
          <a:xfrm>
            <a:off x="566928" y="914400"/>
            <a:ext cx="11064240" cy="347472"/>
          </a:xfrm>
          <a:prstGeom prst="rect">
            <a:avLst/>
          </a:prstGeom>
          <a:noFill/>
          <a:ln/>
        </p:spPr>
        <p:txBody>
          <a:bodyPr wrap="square" lIns="0" tIns="0" rIns="0" bIns="0" rtlCol="0" anchor="ctr"/>
          <a:lstStyle/>
          <a:p>
            <a:pPr indent="0" marL="0">
              <a:buNone/>
            </a:pPr>
            <a:r>
              <a:rPr lang="en-US" sz="1500" dirty="0">
                <a:solidFill>
                  <a:srgbClr val="5B6B73"/>
                </a:solidFill>
                <a:latin typeface="Calibri" pitchFamily="34" charset="0"/>
                <a:ea typeface="Calibri" pitchFamily="34" charset="-122"/>
                <a:cs typeface="Calibri" pitchFamily="34" charset="-120"/>
              </a:rPr>
              <a:t>Each risk was designed around before it could bite</a:t>
            </a:r>
            <a:endParaRPr lang="en-US" sz="1500" dirty="0"/>
          </a:p>
        </p:txBody>
      </p:sp>
      <p:sp>
        <p:nvSpPr>
          <p:cNvPr id="4" name="Shape 2"/>
          <p:cNvSpPr/>
          <p:nvPr/>
        </p:nvSpPr>
        <p:spPr>
          <a:xfrm>
            <a:off x="822960" y="1554480"/>
            <a:ext cx="5074920" cy="1828800"/>
          </a:xfrm>
          <a:prstGeom prst="roundRect">
            <a:avLst>
              <a:gd name="adj" fmla="val 4000"/>
            </a:avLst>
          </a:prstGeom>
          <a:solidFill>
            <a:srgbClr val="FFFFFF"/>
          </a:solidFill>
          <a:ln w="12700">
            <a:solidFill>
              <a:srgbClr val="D5E1E8"/>
            </a:solidFill>
            <a:prstDash val="solid"/>
          </a:ln>
        </p:spPr>
      </p:sp>
      <p:sp>
        <p:nvSpPr>
          <p:cNvPr id="5" name="Shape 3"/>
          <p:cNvSpPr/>
          <p:nvPr/>
        </p:nvSpPr>
        <p:spPr>
          <a:xfrm>
            <a:off x="1097280" y="1847088"/>
            <a:ext cx="384048" cy="384048"/>
          </a:xfrm>
          <a:prstGeom prst="ellipse">
            <a:avLst/>
          </a:prstGeom>
          <a:solidFill>
            <a:srgbClr val="E0912F"/>
          </a:solidFill>
          <a:ln/>
        </p:spPr>
      </p:sp>
      <p:sp>
        <p:nvSpPr>
          <p:cNvPr id="6" name="Text 4"/>
          <p:cNvSpPr txBox="1"/>
          <p:nvPr/>
        </p:nvSpPr>
        <p:spPr>
          <a:xfrm>
            <a:off x="1097280" y="18470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645920" y="1810512"/>
            <a:ext cx="4023360" cy="502920"/>
          </a:xfrm>
          <a:prstGeom prst="rect">
            <a:avLst/>
          </a:prstGeom>
          <a:noFill/>
          <a:ln/>
        </p:spPr>
        <p:txBody>
          <a:bodyPr wrap="square" lIns="0" tIns="0" rIns="0" bIns="0" rtlCol="0" anchor="ctr"/>
          <a:lstStyle/>
          <a:p>
            <a:pPr indent="0" marL="0">
              <a:buNone/>
            </a:pPr>
            <a:r>
              <a:rPr lang="en-US" sz="1600" b="1" dirty="0">
                <a:solidFill>
                  <a:srgbClr val="0F3B57"/>
                </a:solidFill>
                <a:latin typeface="Cambria" pitchFamily="34" charset="0"/>
                <a:ea typeface="Cambria" pitchFamily="34" charset="-122"/>
                <a:cs typeface="Cambria" pitchFamily="34" charset="-120"/>
              </a:rPr>
              <a:t>Labels under the canopy are noisy</a:t>
            </a:r>
            <a:endParaRPr lang="en-US" sz="1600" dirty="0"/>
          </a:p>
        </p:txBody>
      </p:sp>
      <p:sp>
        <p:nvSpPr>
          <p:cNvPr id="8" name="Text 6"/>
          <p:cNvSpPr txBox="1"/>
          <p:nvPr/>
        </p:nvSpPr>
        <p:spPr>
          <a:xfrm>
            <a:off x="1645920" y="2423160"/>
            <a:ext cx="4023360" cy="777240"/>
          </a:xfrm>
          <a:prstGeom prst="rect">
            <a:avLst/>
          </a:prstGeom>
          <a:noFill/>
          <a:ln/>
        </p:spPr>
        <p:txBody>
          <a:bodyPr wrap="square" lIns="0" tIns="0" rIns="0" bIns="0" rtlCol="0" anchor="ctr"/>
          <a:lstStyle/>
          <a:p>
            <a:pPr indent="0" marL="0">
              <a:buNone/>
            </a:pPr>
            <a:r>
              <a:rPr lang="en-US" sz="1350" dirty="0">
                <a:solidFill>
                  <a:srgbClr val="15242C"/>
                </a:solidFill>
                <a:latin typeface="Calibri" pitchFamily="34" charset="0"/>
                <a:ea typeface="Calibri" pitchFamily="34" charset="-122"/>
                <a:cs typeface="Calibri" pitchFamily="34" charset="-120"/>
              </a:rPr>
              <a:t>Separate careful "gold" labels from automatic "silver" ones; report agreement.</a:t>
            </a:r>
            <a:endParaRPr lang="en-US" sz="1350" dirty="0"/>
          </a:p>
        </p:txBody>
      </p:sp>
      <p:sp>
        <p:nvSpPr>
          <p:cNvPr id="9" name="Shape 7"/>
          <p:cNvSpPr/>
          <p:nvPr/>
        </p:nvSpPr>
        <p:spPr>
          <a:xfrm>
            <a:off x="6172200" y="1554480"/>
            <a:ext cx="5074920" cy="1828800"/>
          </a:xfrm>
          <a:prstGeom prst="roundRect">
            <a:avLst>
              <a:gd name="adj" fmla="val 4000"/>
            </a:avLst>
          </a:prstGeom>
          <a:solidFill>
            <a:srgbClr val="FFFFFF"/>
          </a:solidFill>
          <a:ln w="12700">
            <a:solidFill>
              <a:srgbClr val="D5E1E8"/>
            </a:solidFill>
            <a:prstDash val="solid"/>
          </a:ln>
        </p:spPr>
      </p:sp>
      <p:sp>
        <p:nvSpPr>
          <p:cNvPr id="10" name="Shape 8"/>
          <p:cNvSpPr/>
          <p:nvPr/>
        </p:nvSpPr>
        <p:spPr>
          <a:xfrm>
            <a:off x="6446520" y="1847088"/>
            <a:ext cx="384048" cy="384048"/>
          </a:xfrm>
          <a:prstGeom prst="ellipse">
            <a:avLst/>
          </a:prstGeom>
          <a:solidFill>
            <a:srgbClr val="E0912F"/>
          </a:solidFill>
          <a:ln/>
        </p:spPr>
      </p:sp>
      <p:sp>
        <p:nvSpPr>
          <p:cNvPr id="11" name="Text 9"/>
          <p:cNvSpPr txBox="1"/>
          <p:nvPr/>
        </p:nvSpPr>
        <p:spPr>
          <a:xfrm>
            <a:off x="6446520" y="18470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6995160" y="1810512"/>
            <a:ext cx="4023360" cy="502920"/>
          </a:xfrm>
          <a:prstGeom prst="rect">
            <a:avLst/>
          </a:prstGeom>
          <a:noFill/>
          <a:ln/>
        </p:spPr>
        <p:txBody>
          <a:bodyPr wrap="square" lIns="0" tIns="0" rIns="0" bIns="0" rtlCol="0" anchor="ctr"/>
          <a:lstStyle/>
          <a:p>
            <a:pPr indent="0" marL="0">
              <a:buNone/>
            </a:pPr>
            <a:r>
              <a:rPr lang="en-US" sz="1600" b="1" dirty="0">
                <a:solidFill>
                  <a:srgbClr val="0F3B57"/>
                </a:solidFill>
                <a:latin typeface="Cambria" pitchFamily="34" charset="0"/>
                <a:ea typeface="Cambria" pitchFamily="34" charset="-122"/>
                <a:cs typeface="Cambria" pitchFamily="34" charset="-120"/>
              </a:rPr>
              <a:t>Polarization confound (HH/HV vs VV/VH)</a:t>
            </a:r>
            <a:endParaRPr lang="en-US" sz="1600" dirty="0"/>
          </a:p>
        </p:txBody>
      </p:sp>
      <p:sp>
        <p:nvSpPr>
          <p:cNvPr id="13" name="Text 11"/>
          <p:cNvSpPr txBox="1"/>
          <p:nvPr/>
        </p:nvSpPr>
        <p:spPr>
          <a:xfrm>
            <a:off x="6995160" y="2423160"/>
            <a:ext cx="4023360" cy="777240"/>
          </a:xfrm>
          <a:prstGeom prst="rect">
            <a:avLst/>
          </a:prstGeom>
          <a:noFill/>
          <a:ln/>
        </p:spPr>
        <p:txBody>
          <a:bodyPr wrap="square" lIns="0" tIns="0" rIns="0" bIns="0" rtlCol="0" anchor="ctr"/>
          <a:lstStyle/>
          <a:p>
            <a:pPr indent="0" marL="0">
              <a:buNone/>
            </a:pPr>
            <a:r>
              <a:rPr lang="en-US" sz="1350" dirty="0">
                <a:solidFill>
                  <a:srgbClr val="15242C"/>
                </a:solidFill>
                <a:latin typeface="Calibri" pitchFamily="34" charset="0"/>
                <a:ea typeface="Calibri" pitchFamily="34" charset="-122"/>
                <a:cs typeface="Calibri" pitchFamily="34" charset="-120"/>
              </a:rPr>
              <a:t>Band-swap ablation on Sentinel-1 bounds how much of the gap is polarization.</a:t>
            </a:r>
            <a:endParaRPr lang="en-US" sz="1350" dirty="0"/>
          </a:p>
        </p:txBody>
      </p:sp>
      <p:sp>
        <p:nvSpPr>
          <p:cNvPr id="14" name="Shape 12"/>
          <p:cNvSpPr/>
          <p:nvPr/>
        </p:nvSpPr>
        <p:spPr>
          <a:xfrm>
            <a:off x="822960" y="3703320"/>
            <a:ext cx="5074920" cy="1828800"/>
          </a:xfrm>
          <a:prstGeom prst="roundRect">
            <a:avLst>
              <a:gd name="adj" fmla="val 4000"/>
            </a:avLst>
          </a:prstGeom>
          <a:solidFill>
            <a:srgbClr val="FFFFFF"/>
          </a:solidFill>
          <a:ln w="12700">
            <a:solidFill>
              <a:srgbClr val="D5E1E8"/>
            </a:solidFill>
            <a:prstDash val="solid"/>
          </a:ln>
        </p:spPr>
      </p:sp>
      <p:sp>
        <p:nvSpPr>
          <p:cNvPr id="15" name="Shape 13"/>
          <p:cNvSpPr/>
          <p:nvPr/>
        </p:nvSpPr>
        <p:spPr>
          <a:xfrm>
            <a:off x="1097280" y="3995928"/>
            <a:ext cx="384048" cy="384048"/>
          </a:xfrm>
          <a:prstGeom prst="ellipse">
            <a:avLst/>
          </a:prstGeom>
          <a:solidFill>
            <a:srgbClr val="E0912F"/>
          </a:solidFill>
          <a:ln/>
        </p:spPr>
      </p:sp>
      <p:sp>
        <p:nvSpPr>
          <p:cNvPr id="16" name="Text 14"/>
          <p:cNvSpPr txBox="1"/>
          <p:nvPr/>
        </p:nvSpPr>
        <p:spPr>
          <a:xfrm>
            <a:off x="1097280" y="3995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645920" y="3959352"/>
            <a:ext cx="4023360" cy="502920"/>
          </a:xfrm>
          <a:prstGeom prst="rect">
            <a:avLst/>
          </a:prstGeom>
          <a:noFill/>
          <a:ln/>
        </p:spPr>
        <p:txBody>
          <a:bodyPr wrap="square" lIns="0" tIns="0" rIns="0" bIns="0" rtlCol="0" anchor="ctr"/>
          <a:lstStyle/>
          <a:p>
            <a:pPr indent="0" marL="0">
              <a:buNone/>
            </a:pPr>
            <a:r>
              <a:rPr lang="en-US" sz="1600" b="1" dirty="0">
                <a:solidFill>
                  <a:srgbClr val="0F3B57"/>
                </a:solidFill>
                <a:latin typeface="Cambria" pitchFamily="34" charset="0"/>
                <a:ea typeface="Cambria" pitchFamily="34" charset="-122"/>
                <a:cs typeface="Cambria" pitchFamily="34" charset="-120"/>
              </a:rPr>
              <a:t>NISAR data is still provisional</a:t>
            </a:r>
            <a:endParaRPr lang="en-US" sz="1600" dirty="0"/>
          </a:p>
        </p:txBody>
      </p:sp>
      <p:sp>
        <p:nvSpPr>
          <p:cNvPr id="18" name="Text 16"/>
          <p:cNvSpPr txBox="1"/>
          <p:nvPr/>
        </p:nvSpPr>
        <p:spPr>
          <a:xfrm>
            <a:off x="1645920" y="4572000"/>
            <a:ext cx="4023360" cy="777240"/>
          </a:xfrm>
          <a:prstGeom prst="rect">
            <a:avLst/>
          </a:prstGeom>
          <a:noFill/>
          <a:ln/>
        </p:spPr>
        <p:txBody>
          <a:bodyPr wrap="square" lIns="0" tIns="0" rIns="0" bIns="0" rtlCol="0" anchor="ctr"/>
          <a:lstStyle/>
          <a:p>
            <a:pPr indent="0" marL="0">
              <a:buNone/>
            </a:pPr>
            <a:r>
              <a:rPr lang="en-US" sz="1350" dirty="0">
                <a:solidFill>
                  <a:srgbClr val="15242C"/>
                </a:solidFill>
                <a:latin typeface="Calibri" pitchFamily="34" charset="0"/>
                <a:ea typeface="Calibri" pitchFamily="34" charset="-122"/>
                <a:cs typeface="Calibri" pitchFamily="34" charset="-120"/>
              </a:rPr>
              <a:t>Lock granule dates from the 2026 high-water season; stay inside one product version.</a:t>
            </a:r>
            <a:endParaRPr lang="en-US" sz="1350" dirty="0"/>
          </a:p>
        </p:txBody>
      </p:sp>
      <p:sp>
        <p:nvSpPr>
          <p:cNvPr id="19" name="Shape 17"/>
          <p:cNvSpPr/>
          <p:nvPr/>
        </p:nvSpPr>
        <p:spPr>
          <a:xfrm>
            <a:off x="6172200" y="3703320"/>
            <a:ext cx="5074920" cy="1828800"/>
          </a:xfrm>
          <a:prstGeom prst="roundRect">
            <a:avLst>
              <a:gd name="adj" fmla="val 4000"/>
            </a:avLst>
          </a:prstGeom>
          <a:solidFill>
            <a:srgbClr val="FFFFFF"/>
          </a:solidFill>
          <a:ln w="12700">
            <a:solidFill>
              <a:srgbClr val="D5E1E8"/>
            </a:solidFill>
            <a:prstDash val="solid"/>
          </a:ln>
        </p:spPr>
      </p:sp>
      <p:sp>
        <p:nvSpPr>
          <p:cNvPr id="20" name="Shape 18"/>
          <p:cNvSpPr/>
          <p:nvPr/>
        </p:nvSpPr>
        <p:spPr>
          <a:xfrm>
            <a:off x="6446520" y="3995928"/>
            <a:ext cx="384048" cy="384048"/>
          </a:xfrm>
          <a:prstGeom prst="ellipse">
            <a:avLst/>
          </a:prstGeom>
          <a:solidFill>
            <a:srgbClr val="E0912F"/>
          </a:solidFill>
          <a:ln/>
        </p:spPr>
      </p:sp>
      <p:sp>
        <p:nvSpPr>
          <p:cNvPr id="21" name="Text 19"/>
          <p:cNvSpPr txBox="1"/>
          <p:nvPr/>
        </p:nvSpPr>
        <p:spPr>
          <a:xfrm>
            <a:off x="6446520" y="3995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6995160" y="3959352"/>
            <a:ext cx="4023360" cy="502920"/>
          </a:xfrm>
          <a:prstGeom prst="rect">
            <a:avLst/>
          </a:prstGeom>
          <a:noFill/>
          <a:ln/>
        </p:spPr>
        <p:txBody>
          <a:bodyPr wrap="square" lIns="0" tIns="0" rIns="0" bIns="0" rtlCol="0" anchor="ctr"/>
          <a:lstStyle/>
          <a:p>
            <a:pPr indent="0" marL="0">
              <a:buNone/>
            </a:pPr>
            <a:r>
              <a:rPr lang="en-US" sz="1600" b="1" dirty="0">
                <a:solidFill>
                  <a:srgbClr val="0F3B57"/>
                </a:solidFill>
                <a:latin typeface="Cambria" pitchFamily="34" charset="0"/>
                <a:ea typeface="Cambria" pitchFamily="34" charset="-122"/>
                <a:cs typeface="Cambria" pitchFamily="34" charset="-120"/>
              </a:rPr>
              <a:t>Small-n fine-tuning is noisy</a:t>
            </a:r>
            <a:endParaRPr lang="en-US" sz="1600" dirty="0"/>
          </a:p>
        </p:txBody>
      </p:sp>
      <p:sp>
        <p:nvSpPr>
          <p:cNvPr id="23" name="Text 21"/>
          <p:cNvSpPr txBox="1"/>
          <p:nvPr/>
        </p:nvSpPr>
        <p:spPr>
          <a:xfrm>
            <a:off x="6995160" y="4572000"/>
            <a:ext cx="4023360" cy="777240"/>
          </a:xfrm>
          <a:prstGeom prst="rect">
            <a:avLst/>
          </a:prstGeom>
          <a:noFill/>
          <a:ln/>
        </p:spPr>
        <p:txBody>
          <a:bodyPr wrap="square" lIns="0" tIns="0" rIns="0" bIns="0" rtlCol="0" anchor="ctr"/>
          <a:lstStyle/>
          <a:p>
            <a:pPr indent="0" marL="0">
              <a:buNone/>
            </a:pPr>
            <a:r>
              <a:rPr lang="en-US" sz="1350" dirty="0">
                <a:solidFill>
                  <a:srgbClr val="15242C"/>
                </a:solidFill>
                <a:latin typeface="Calibri" pitchFamily="34" charset="0"/>
                <a:ea typeface="Calibri" pitchFamily="34" charset="-122"/>
                <a:cs typeface="Calibri" pitchFamily="34" charset="-120"/>
              </a:rPr>
              <a:t>Repeated random splits, three seeds, report variance not a single curve.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3B57"/>
        </a:solidFill>
      </p:bgPr>
    </p:bg>
    <p:spTree>
      <p:nvGrpSpPr>
        <p:cNvPr id="1" name=""/>
        <p:cNvGrpSpPr/>
        <p:nvPr/>
      </p:nvGrpSpPr>
      <p:grpSpPr>
        <a:xfrm>
          <a:off x="0" y="0"/>
          <a:ext cx="0" cy="0"/>
          <a:chOff x="0" y="0"/>
          <a:chExt cx="0" cy="0"/>
        </a:xfrm>
      </p:grpSpPr>
      <p:pic>
        <p:nvPicPr>
          <p:cNvPr id="2" name="Image 0" descr="/home/claude/assets/river.jpeg">    </p:cNvPr>
          <p:cNvPicPr>
            <a:picLocks noChangeAspect="1"/>
          </p:cNvPicPr>
          <p:nvPr/>
        </p:nvPicPr>
        <p:blipFill>
          <a:blip r:embed="rId1"/>
          <a:srcRect l="0" r="0" t="0" b="0"/>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0F3B57">
              <a:alpha val="80000"/>
            </a:srgbClr>
          </a:solidFill>
          <a:ln/>
        </p:spPr>
      </p:sp>
      <p:sp>
        <p:nvSpPr>
          <p:cNvPr id="4" name="Text 1"/>
          <p:cNvSpPr txBox="1"/>
          <p:nvPr/>
        </p:nvSpPr>
        <p:spPr>
          <a:xfrm>
            <a:off x="822960" y="640080"/>
            <a:ext cx="105156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Where we are</a:t>
            </a:r>
            <a:endParaRPr lang="en-US" sz="3200" dirty="0"/>
          </a:p>
        </p:txBody>
      </p:sp>
      <p:sp>
        <p:nvSpPr>
          <p:cNvPr id="5" name="Shape 2"/>
          <p:cNvSpPr/>
          <p:nvPr/>
        </p:nvSpPr>
        <p:spPr>
          <a:xfrm>
            <a:off x="822960" y="1554480"/>
            <a:ext cx="10515600" cy="777240"/>
          </a:xfrm>
          <a:prstGeom prst="roundRect">
            <a:avLst>
              <a:gd name="adj" fmla="val 9412"/>
            </a:avLst>
          </a:prstGeom>
          <a:solidFill>
            <a:srgbClr val="17506F">
              <a:alpha val="88000"/>
            </a:srgbClr>
          </a:solidFill>
          <a:ln/>
        </p:spPr>
      </p:sp>
      <p:sp>
        <p:nvSpPr>
          <p:cNvPr id="6" name="Text 3"/>
          <p:cNvSpPr txBox="1"/>
          <p:nvPr/>
        </p:nvSpPr>
        <p:spPr>
          <a:xfrm>
            <a:off x="1097280" y="1554480"/>
            <a:ext cx="2377440" cy="777240"/>
          </a:xfrm>
          <a:prstGeom prst="rect">
            <a:avLst/>
          </a:prstGeom>
          <a:noFill/>
          <a:ln/>
        </p:spPr>
        <p:txBody>
          <a:bodyPr wrap="square" lIns="0" tIns="0" rIns="0" bIns="0" rtlCol="0" anchor="ctr"/>
          <a:lstStyle/>
          <a:p>
            <a:pPr indent="0" marL="0">
              <a:buNone/>
            </a:pPr>
            <a:r>
              <a:rPr lang="en-US" sz="1700" b="1" dirty="0">
                <a:solidFill>
                  <a:srgbClr val="E0912F"/>
                </a:solidFill>
                <a:latin typeface="Cambria" pitchFamily="34" charset="0"/>
                <a:ea typeface="Cambria" pitchFamily="34" charset="-122"/>
                <a:cs typeface="Cambria" pitchFamily="34" charset="-120"/>
              </a:rPr>
              <a:t>Data access</a:t>
            </a:r>
            <a:endParaRPr lang="en-US" sz="1700" dirty="0"/>
          </a:p>
        </p:txBody>
      </p:sp>
      <p:sp>
        <p:nvSpPr>
          <p:cNvPr id="7" name="Text 4"/>
          <p:cNvSpPr txBox="1"/>
          <p:nvPr/>
        </p:nvSpPr>
        <p:spPr>
          <a:xfrm>
            <a:off x="3566160" y="1554480"/>
            <a:ext cx="7498080"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Verified — 89 NISAR scenes over the Amazon, one granule read end to end</a:t>
            </a:r>
            <a:endParaRPr lang="en-US" sz="1500" dirty="0"/>
          </a:p>
        </p:txBody>
      </p:sp>
      <p:sp>
        <p:nvSpPr>
          <p:cNvPr id="8" name="Shape 5"/>
          <p:cNvSpPr/>
          <p:nvPr/>
        </p:nvSpPr>
        <p:spPr>
          <a:xfrm>
            <a:off x="822960" y="2514600"/>
            <a:ext cx="10515600" cy="777240"/>
          </a:xfrm>
          <a:prstGeom prst="roundRect">
            <a:avLst>
              <a:gd name="adj" fmla="val 9412"/>
            </a:avLst>
          </a:prstGeom>
          <a:solidFill>
            <a:srgbClr val="17506F">
              <a:alpha val="88000"/>
            </a:srgbClr>
          </a:solidFill>
          <a:ln/>
        </p:spPr>
      </p:sp>
      <p:sp>
        <p:nvSpPr>
          <p:cNvPr id="9" name="Text 6"/>
          <p:cNvSpPr txBox="1"/>
          <p:nvPr/>
        </p:nvSpPr>
        <p:spPr>
          <a:xfrm>
            <a:off x="1097280" y="2514600"/>
            <a:ext cx="2377440" cy="777240"/>
          </a:xfrm>
          <a:prstGeom prst="rect">
            <a:avLst/>
          </a:prstGeom>
          <a:noFill/>
          <a:ln/>
        </p:spPr>
        <p:txBody>
          <a:bodyPr wrap="square" lIns="0" tIns="0" rIns="0" bIns="0" rtlCol="0" anchor="ctr"/>
          <a:lstStyle/>
          <a:p>
            <a:pPr indent="0" marL="0">
              <a:buNone/>
            </a:pPr>
            <a:r>
              <a:rPr lang="en-US" sz="1700" b="1" dirty="0">
                <a:solidFill>
                  <a:srgbClr val="E0912F"/>
                </a:solidFill>
                <a:latin typeface="Cambria" pitchFamily="34" charset="0"/>
                <a:ea typeface="Cambria" pitchFamily="34" charset="-122"/>
                <a:cs typeface="Cambria" pitchFamily="34" charset="-120"/>
              </a:rPr>
              <a:t>Literature</a:t>
            </a:r>
            <a:endParaRPr lang="en-US" sz="1700" dirty="0"/>
          </a:p>
        </p:txBody>
      </p:sp>
      <p:sp>
        <p:nvSpPr>
          <p:cNvPr id="10" name="Text 7"/>
          <p:cNvSpPr txBox="1"/>
          <p:nvPr/>
        </p:nvSpPr>
        <p:spPr>
          <a:xfrm>
            <a:off x="3566160" y="2514600"/>
            <a:ext cx="7498080"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papers surveyed, 2 nominated, gap defensible against each</a:t>
            </a:r>
            <a:endParaRPr lang="en-US" sz="1500" dirty="0"/>
          </a:p>
        </p:txBody>
      </p:sp>
      <p:sp>
        <p:nvSpPr>
          <p:cNvPr id="11" name="Shape 8"/>
          <p:cNvSpPr/>
          <p:nvPr/>
        </p:nvSpPr>
        <p:spPr>
          <a:xfrm>
            <a:off x="822960" y="3474720"/>
            <a:ext cx="10515600" cy="777240"/>
          </a:xfrm>
          <a:prstGeom prst="roundRect">
            <a:avLst>
              <a:gd name="adj" fmla="val 9412"/>
            </a:avLst>
          </a:prstGeom>
          <a:solidFill>
            <a:srgbClr val="17506F">
              <a:alpha val="88000"/>
            </a:srgbClr>
          </a:solidFill>
          <a:ln/>
        </p:spPr>
      </p:sp>
      <p:sp>
        <p:nvSpPr>
          <p:cNvPr id="12" name="Text 9"/>
          <p:cNvSpPr txBox="1"/>
          <p:nvPr/>
        </p:nvSpPr>
        <p:spPr>
          <a:xfrm>
            <a:off x="1097280" y="3474720"/>
            <a:ext cx="2377440" cy="777240"/>
          </a:xfrm>
          <a:prstGeom prst="rect">
            <a:avLst/>
          </a:prstGeom>
          <a:noFill/>
          <a:ln/>
        </p:spPr>
        <p:txBody>
          <a:bodyPr wrap="square" lIns="0" tIns="0" rIns="0" bIns="0" rtlCol="0" anchor="ctr"/>
          <a:lstStyle/>
          <a:p>
            <a:pPr indent="0" marL="0">
              <a:buNone/>
            </a:pPr>
            <a:r>
              <a:rPr lang="en-US" sz="1700" b="1" dirty="0">
                <a:solidFill>
                  <a:srgbClr val="E0912F"/>
                </a:solidFill>
                <a:latin typeface="Cambria" pitchFamily="34" charset="0"/>
                <a:ea typeface="Cambria" pitchFamily="34" charset="-122"/>
                <a:cs typeface="Cambria" pitchFamily="34" charset="-120"/>
              </a:rPr>
              <a:t>Effort</a:t>
            </a:r>
            <a:endParaRPr lang="en-US" sz="1700" dirty="0"/>
          </a:p>
        </p:txBody>
      </p:sp>
      <p:sp>
        <p:nvSpPr>
          <p:cNvPr id="13" name="Text 10"/>
          <p:cNvSpPr txBox="1"/>
          <p:nvPr/>
        </p:nvSpPr>
        <p:spPr>
          <a:xfrm>
            <a:off x="3566160" y="3474720"/>
            <a:ext cx="7498080"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25–35 h to reproduce the baseline; 200–275 h for the full study</a:t>
            </a:r>
            <a:endParaRPr lang="en-US" sz="1500" dirty="0"/>
          </a:p>
        </p:txBody>
      </p:sp>
      <p:sp>
        <p:nvSpPr>
          <p:cNvPr id="14" name="Shape 11"/>
          <p:cNvSpPr/>
          <p:nvPr/>
        </p:nvSpPr>
        <p:spPr>
          <a:xfrm>
            <a:off x="822960" y="4434840"/>
            <a:ext cx="10515600" cy="777240"/>
          </a:xfrm>
          <a:prstGeom prst="roundRect">
            <a:avLst>
              <a:gd name="adj" fmla="val 9412"/>
            </a:avLst>
          </a:prstGeom>
          <a:solidFill>
            <a:srgbClr val="17506F">
              <a:alpha val="88000"/>
            </a:srgbClr>
          </a:solidFill>
          <a:ln/>
        </p:spPr>
      </p:sp>
      <p:sp>
        <p:nvSpPr>
          <p:cNvPr id="15" name="Text 12"/>
          <p:cNvSpPr txBox="1"/>
          <p:nvPr/>
        </p:nvSpPr>
        <p:spPr>
          <a:xfrm>
            <a:off x="1097280" y="4434840"/>
            <a:ext cx="2377440" cy="777240"/>
          </a:xfrm>
          <a:prstGeom prst="rect">
            <a:avLst/>
          </a:prstGeom>
          <a:noFill/>
          <a:ln/>
        </p:spPr>
        <p:txBody>
          <a:bodyPr wrap="square" lIns="0" tIns="0" rIns="0" bIns="0" rtlCol="0" anchor="ctr"/>
          <a:lstStyle/>
          <a:p>
            <a:pPr indent="0" marL="0">
              <a:buNone/>
            </a:pPr>
            <a:r>
              <a:rPr lang="en-US" sz="1700" b="1" dirty="0">
                <a:solidFill>
                  <a:srgbClr val="E0912F"/>
                </a:solidFill>
                <a:latin typeface="Cambria" pitchFamily="34" charset="0"/>
                <a:ea typeface="Cambria" pitchFamily="34" charset="-122"/>
                <a:cs typeface="Cambria" pitchFamily="34" charset="-120"/>
              </a:rPr>
              <a:t>Team</a:t>
            </a:r>
            <a:endParaRPr lang="en-US" sz="1700" dirty="0"/>
          </a:p>
        </p:txBody>
      </p:sp>
      <p:sp>
        <p:nvSpPr>
          <p:cNvPr id="16" name="Text 13"/>
          <p:cNvSpPr txBox="1"/>
          <p:nvPr/>
        </p:nvSpPr>
        <p:spPr>
          <a:xfrm>
            <a:off x="3566160" y="4434840"/>
            <a:ext cx="7498080"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workstreams, 4 named owners, repo live with PR review</a:t>
            </a:r>
            <a:endParaRPr lang="en-US" sz="1500" dirty="0"/>
          </a:p>
        </p:txBody>
      </p:sp>
      <p:sp>
        <p:nvSpPr>
          <p:cNvPr id="17" name="Text 14"/>
          <p:cNvSpPr txBox="1"/>
          <p:nvPr/>
        </p:nvSpPr>
        <p:spPr>
          <a:xfrm>
            <a:off x="822960" y="5669280"/>
            <a:ext cx="10515600" cy="457200"/>
          </a:xfrm>
          <a:prstGeom prst="rect">
            <a:avLst/>
          </a:prstGeom>
          <a:noFill/>
          <a:ln/>
        </p:spPr>
        <p:txBody>
          <a:bodyPr wrap="square" rtlCol="0" anchor="ctr"/>
          <a:lstStyle/>
          <a:p>
            <a:pPr indent="0" marL="0">
              <a:buNone/>
            </a:pPr>
            <a:r>
              <a:rPr lang="en-US" sz="2000" b="1" i="1" dirty="0">
                <a:solidFill>
                  <a:srgbClr val="BFD6E2"/>
                </a:solidFill>
                <a:latin typeface="Cambria" pitchFamily="34" charset="0"/>
                <a:ea typeface="Cambria" pitchFamily="34" charset="-122"/>
                <a:cs typeface="Cambria" pitchFamily="34" charset="-120"/>
              </a:rPr>
              <a:t>Whatever we measure is a first measurement.</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59300 Requirements Presentation</dc:title>
  <dc:subject>PptxGenJS Presentation</dc:subject>
  <dc:creator>Varun Teja Chundru</dc:creator>
  <cp:lastModifiedBy>Varun Teja Chundru</cp:lastModifiedBy>
  <cp:revision>1</cp:revision>
  <dcterms:created xsi:type="dcterms:W3CDTF">2026-09-22T22:51:31Z</dcterms:created>
  <dcterms:modified xsi:type="dcterms:W3CDTF">2026-09-22T22:51:31Z</dcterms:modified>
</cp:coreProperties>
</file>