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NISAR's first public data is eight weeks old. Nobody in the world has run a deep learning flood model on it. Our question: do the models the community already built for Sentinel-1 still work on this new satellite — and if not, how cheaply can we fix them?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why useful. Optical satellites need daylight and clear sky — floods come with storms and clouds. Radar makes its own signal and passes through cloud. So radar is the only real-time flood observation tool; the open question is whether existing AI transfers to the newest radar.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why important/fun. NISAR just became real — first calibrated public data July 20, 2026. We verified no published DL models exist on it. Standard benchmarks are crowded precisely because they're convenient; brand-new data is the honest path to novelty. Whatever we measure is a first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the one idea everything rests on. Open water reflects the pulse away — dark. Flooded forest double-bounces it back — bright, often brighter than dry forest. Only long L-band waves get through the canopy to do this. So Sentinel-1 (C-band) is nearly blind to flooded forest — and that's precisely the class where transfer should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prior art — this is what Dr. Chen probed. DL flood mapping on L-band exists (PALSAR-2). Cross-band transfer of a deep model exists, but for coherence estimation, not floods — and it found moderate, not catastrophic, degradation, which supports feasibility. DeepSARFlood names our exact gap but never measures it: the data didn't exist until July.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is deliberately narrow — each qualifier defends against a specific paper. And the experiment can't fail: a big gap measures what the field only predicted; a small gap means the community's models are NISAR-ready now. Both are useful, publishable-quality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end goal. Not a yes/no — three quantities with falsifiable hypotheses. RQ1 the size and location of the gap; RQ2 the label budget to close it (the practically useful number); RQ3 the mechanism, via a polarization ablation with the architecture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phases, each producing a number. We deliberately use a plain U-Net: the model is not the contribution — the measured gap between satellites is. An exotic architecture would confound the comparison. One Amazon frame contains all three land classes, so the regime comparison needs no second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 slide: this is our own analysis, run this week in Colab — not a mock-up. 89 granules over the Amazon AOI; we downloaded one, read the HDF5, found clean bimodal water/land separation, and confirmed the same frame repeats every 12 days across the falling flood pulse. Feasibility is closed, not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truth is the make-or-break. Primary: hydrology — gauge stage plus canopy-corrected HAND terrain; it never looks at radar, so it cannot be circular. Cross-check: the classic JERS-1 wetland masks. Change detection only produces silver training labels. And the red card: grading against Sentinel-1 would penalize NISAR exactly where it's right — that trap, caught early, is itself a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challenges. Four real ones, each with a mitigation already designed: noisy canopy truth (gold/silver split), the Oct–Nov dry-season timing (four-rung fallback ladder — and the headline result doesn't depend on it), provisional calibration (stay in one product generation), and the polarization mismatch — which we turned into RQ3 rather than treating as a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deliverables: the three measured numbers, the first labeled NISAR flood dataset (released openly), code plus a working demo built with real PR review, and the report. Ten-week timeline with buffer. Closing line: whatever we measure is a first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x/ppt/media/image-1-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D2F">
              <a:alpha val="7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APPLICATION OF DEEP LEARNING · RESEARCH-BASED COURSE PROJECT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Flood Models Transfer</a:t>
            </a:r>
            <a:endParaRPr lang="en-US" sz="4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Satellites?</a:t>
            </a:r>
            <a:endParaRPr lang="en-US" sz="4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94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deep-learning flood evaluation on NISAR L-band radar — measuring whether Sentinel-1-trained models survive the jump, and what it costs to close the gap.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Teja Chundru  ·  Nidhi Musale  ·  Yashada Ajit Tembe  ·  Pushan Verma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650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Zesheng Chen  ·  September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x/ppt/media/image-1003-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65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4846320"/>
            <a:ext cx="4416552" cy="2011680"/>
          </a:xfrm>
          <a:prstGeom prst="rect">
            <a:avLst/>
          </a:prstGeom>
          <a:solidFill>
            <a:srgbClr val="1E3D2F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0" y="5074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clouds — exactly what blocks optical satellites during a flood. Radar passes straight through.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TOPIC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Floods blind the satellites meant to watch them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are among the most destructive natural disasters — and the hardest to observe when it matters, because optical sensors fail in exactly the conditions that accompany them.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66928" cy="566928"/>
          </a:xfrm>
          <a:prstGeom prst="ellipse">
            <a:avLst/>
          </a:prstGeom>
          <a:solidFill>
            <a:srgbClr val="5C6B62"/>
          </a:solidFill>
          <a:ln/>
        </p:spPr>
      </p:sp>
      <p:pic>
        <p:nvPicPr>
          <p:cNvPr id="9" name="Image 1" descr="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52484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3408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obstruction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334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systems block optical imagery precisely when flood monitoring is most critical.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401568"/>
            <a:ext cx="566928" cy="566928"/>
          </a:xfrm>
          <a:prstGeom prst="ellipse">
            <a:avLst/>
          </a:prstGeom>
          <a:solidFill>
            <a:srgbClr val="5C6B62"/>
          </a:solidFill>
          <a:ln/>
        </p:spPr>
      </p:sp>
      <p:pic>
        <p:nvPicPr>
          <p:cNvPr id="13" name="Image 2" descr="icons/m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548969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36499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blindness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6576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sensors cannot operate at night, missing crucial temporal coverage.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425696"/>
            <a:ext cx="566928" cy="566928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7" name="Image 3" descr="icons/ra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57309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3891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radar advantage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68172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penetrates cloud and works day or night — uninterrupted coverage through the storm.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6812280" cy="777240"/>
          </a:xfrm>
          <a:prstGeom prst="roundRect">
            <a:avLst>
              <a:gd name="adj" fmla="val 9412"/>
            </a:avLst>
          </a:prstGeom>
          <a:solidFill>
            <a:srgbClr val="F1F5EE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" y="573328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is the only way to map a flood while it is happening. </a:t>
            </a:r>
            <a:pPr indent="0" marL="0">
              <a:buNone/>
            </a:pPr>
            <a:r>
              <a:rPr lang="en-US" sz="13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whether our existing AI can read the new radar.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AND WHY IT'S EXCITING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eight-week-old dataset nobody has modeled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2880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2025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42032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 launches — first joint NASA–ISRO satellite, first-of-its-kind L-band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74136" y="16002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1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75304" y="182880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20, 2026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542032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calibrated data released to the public — the archive is filling during our semester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002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1F5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2880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weeks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542032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the usable public record when we selected this topic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5128" y="16002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1F5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26296" y="1828800"/>
            <a:ext cx="2322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papers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542032"/>
            <a:ext cx="23225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deep-learning models on real NISAR data (verified against the literature, Sept 2026)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benchmark datasets are crowded because they are convenient — the dataset is what draws the crowd. Data this new is the one honest route to novelty: no crowd has had time to form.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E3D2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349240"/>
            <a:ext cx="658368" cy="658368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9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5520416"/>
            <a:ext cx="316017" cy="31601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737360" y="5321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fun: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get to run an experiment that has literally never been run — on a satellite the whole flood-mapping community is waiting to use. Whatever number we measure is new knowledge.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IN ONE SLIDE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flood, opposite radar signatures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F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WATER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64592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E6E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6413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DARK</a:t>
            </a:r>
            <a:endParaRPr lang="en-US" sz="1100" dirty="0"/>
          </a:p>
        </p:txBody>
      </p:sp>
      <p:pic>
        <p:nvPicPr>
          <p:cNvPr id="8" name="Image 0" descr="icons/sat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47548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2788920"/>
            <a:ext cx="1600200" cy="1371600"/>
          </a:xfrm>
          <a:prstGeom prst="line">
            <a:avLst/>
          </a:prstGeom>
          <a:noFill/>
          <a:ln w="28575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14400" y="4187952"/>
            <a:ext cx="4754880" cy="237744"/>
          </a:xfrm>
          <a:prstGeom prst="roundRect">
            <a:avLst>
              <a:gd name="adj" fmla="val 23077"/>
            </a:avLst>
          </a:prstGeom>
          <a:solidFill>
            <a:srgbClr val="2E6E8E"/>
          </a:solidFill>
          <a:ln/>
        </p:spPr>
      </p:sp>
      <p:sp>
        <p:nvSpPr>
          <p:cNvPr id="11" name="Shape 8"/>
          <p:cNvSpPr/>
          <p:nvPr/>
        </p:nvSpPr>
        <p:spPr>
          <a:xfrm flipV="1">
            <a:off x="3063240" y="2743200"/>
            <a:ext cx="1965960" cy="1389888"/>
          </a:xfrm>
          <a:prstGeom prst="line">
            <a:avLst/>
          </a:prstGeom>
          <a:noFill/>
          <a:ln w="25400">
            <a:solidFill>
              <a:srgbClr val="8FA89C"/>
            </a:solidFill>
            <a:prstDash val="dash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069080" y="2487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away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water is a mirror: the pulse bounces off at an angle and never returns. The sensor records almost nothing.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1481328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F1F5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3796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9C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FLOODED FOREST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104120" y="1645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104120" y="16413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BRIGHT</a:t>
            </a:r>
            <a:endParaRPr lang="en-US" sz="1100" dirty="0"/>
          </a:p>
        </p:txBody>
      </p:sp>
      <p:pic>
        <p:nvPicPr>
          <p:cNvPr id="18" name="Image 1" descr="icons/sat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40280"/>
            <a:ext cx="475488" cy="475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132320" y="2788920"/>
            <a:ext cx="1325880" cy="1371600"/>
          </a:xfrm>
          <a:prstGeom prst="line">
            <a:avLst/>
          </a:prstGeom>
          <a:noFill/>
          <a:ln w="28575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629400" y="4187952"/>
            <a:ext cx="4754880" cy="237744"/>
          </a:xfrm>
          <a:prstGeom prst="roundRect">
            <a:avLst>
              <a:gd name="adj" fmla="val 23077"/>
            </a:avLst>
          </a:prstGeom>
          <a:solidFill>
            <a:srgbClr val="2E6E8E"/>
          </a:solidFill>
          <a:ln/>
        </p:spPr>
      </p:sp>
      <p:sp>
        <p:nvSpPr>
          <p:cNvPr id="21" name="Shape 17"/>
          <p:cNvSpPr/>
          <p:nvPr/>
        </p:nvSpPr>
        <p:spPr>
          <a:xfrm>
            <a:off x="9281160" y="3035808"/>
            <a:ext cx="201168" cy="1170432"/>
          </a:xfrm>
          <a:prstGeom prst="rect">
            <a:avLst/>
          </a:prstGeom>
          <a:solidFill>
            <a:srgbClr val="6B4A2B"/>
          </a:solidFill>
          <a:ln/>
        </p:spPr>
      </p:sp>
      <p:sp>
        <p:nvSpPr>
          <p:cNvPr id="22" name="Shape 18"/>
          <p:cNvSpPr/>
          <p:nvPr/>
        </p:nvSpPr>
        <p:spPr>
          <a:xfrm>
            <a:off x="8887968" y="2487168"/>
            <a:ext cx="1005840" cy="713232"/>
          </a:xfrm>
          <a:prstGeom prst="ellipse">
            <a:avLst/>
          </a:prstGeom>
          <a:solidFill>
            <a:srgbClr val="5E8C4A"/>
          </a:solidFill>
          <a:ln/>
        </p:spPr>
      </p:sp>
      <p:sp>
        <p:nvSpPr>
          <p:cNvPr id="23" name="Shape 19"/>
          <p:cNvSpPr/>
          <p:nvPr/>
        </p:nvSpPr>
        <p:spPr>
          <a:xfrm>
            <a:off x="8503920" y="4087368"/>
            <a:ext cx="731520" cy="0"/>
          </a:xfrm>
          <a:prstGeom prst="line">
            <a:avLst/>
          </a:prstGeom>
          <a:noFill/>
          <a:ln w="28575">
            <a:solidFill>
              <a:srgbClr val="9C6F1E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7863840" y="2697480"/>
            <a:ext cx="1371600" cy="1234440"/>
          </a:xfrm>
          <a:prstGeom prst="line">
            <a:avLst/>
          </a:prstGeom>
          <a:noFill/>
          <a:ln w="31750">
            <a:solidFill>
              <a:srgbClr val="9C6F1E"/>
            </a:solidFill>
            <a:prstDash val="solid"/>
            <a:headEnd type="triangle"/>
          </a:ln>
        </p:spPr>
      </p:sp>
      <p:sp>
        <p:nvSpPr>
          <p:cNvPr id="25" name="Text 21"/>
          <p:cNvSpPr txBox="1"/>
          <p:nvPr/>
        </p:nvSpPr>
        <p:spPr>
          <a:xfrm>
            <a:off x="7635240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bounce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trees, the pulse hits the water, then a trunk — a bank shot — and returns strongly. L-band's 24 cm waves reach through the canopy; C-band's 5.6 cm mostly cannot.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buNone/>
            </a:pPr>
            <a:r>
              <a:rPr lang="en-US" sz="14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“find the dark pixels” rule finds rivers — and misses flooded forest entirely. That blind spot is exactly where our study lives.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work — and the gap it leaves open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82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Sen1Floods11 — Bonafilia et al., CVPR-W 2020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hand-labeled Sentinel-1 chips across 11 flood events — the training benchmark we build on.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9464040" y="19202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C5F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64040" y="1915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1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25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floods on L-band — ALOS-2 / PALSAR-2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363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/ UNet++ flood segmentation on L-band already exists — so DL on L-band works. We cannot claim that first.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9464040" y="30632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C6B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64040" y="3058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1F5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68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Cross-band transfer — “Beyond Backscatter,” Jun 2026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793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Sentinel-1-trained deep model tested on ALOS L-band degrades moderately, not catastrophically — but for InSAR coherence, not floods.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464040" y="42062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C6B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64040" y="4201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0176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BF3E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111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DeepSARFlood — 2025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223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outright that Sentinel-1 models cannot transfer directly to other bands and “will require domain adaptation” — naming NISAR. Asserted, never measured.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464040" y="53492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9C6F1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64040" y="53446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430 papers citing Sen1Floods11 (as our instructor requested) plus a 300-source literature sweep.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claim — built to survive review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E3D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first empirical study to quantify zero-shot transfer of a Sentinel-1-trained flood-segmentation model to real NISAR L-band imagery — and the first to measure how small-sample fine-tuning closes the gap, stratified by inundation regime and polarization.”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qualifier is load-bearing — drop one and prior art exists: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1F5EE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4133088"/>
            <a:ext cx="512064" cy="512064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9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426622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477316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NISAR data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321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proxy sensor — the actual mission data, eight weeks old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74136" y="393192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1F5EE"/>
          </a:solidFill>
          <a:ln/>
        </p:spPr>
      </p:sp>
      <p:sp>
        <p:nvSpPr>
          <p:cNvPr id="13" name="Shape 10"/>
          <p:cNvSpPr/>
          <p:nvPr/>
        </p:nvSpPr>
        <p:spPr>
          <a:xfrm>
            <a:off x="3575304" y="4133088"/>
            <a:ext cx="512064" cy="512064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4" name="Image 1" descr="icon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41" y="426622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75304" y="477316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segmentation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75304" y="5321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coherence or land cover — the flood task itself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99632" y="393192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1F5EE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4133088"/>
            <a:ext cx="512064" cy="512064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9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937" y="4266225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477316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+ fine-tuning curve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5321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“does it work” — how many labels close the gap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25128" y="393192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F1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226296" y="4133088"/>
            <a:ext cx="512064" cy="512064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24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9433" y="4266225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26296" y="477316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regime &amp; polarization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226296" y="53218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water vs. flooded forest; VV/VH vs. HH/HV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108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result is a contribution: a large gap quantifies the adaptation the field predicted — no gap means existing models are NISAR-ready today.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 FOR THE RESEARCH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three measurable answers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0168" cy="4206240"/>
          </a:xfrm>
          <a:prstGeom prst="roundRect">
            <a:avLst>
              <a:gd name="adj" fmla="val 2519"/>
            </a:avLst>
          </a:prstGeom>
          <a:solidFill>
            <a:srgbClr val="F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28800"/>
            <a:ext cx="685800" cy="685800"/>
          </a:xfrm>
          <a:prstGeom prst="ellipse">
            <a:avLst/>
          </a:prstGeom>
          <a:solidFill>
            <a:srgbClr val="1E3D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974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is the zero-shot gap — and where?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1188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Sentinel-1-trained model on NISAR untouched. Measure the IoU drop separately for open water and flooded forest.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4681728"/>
            <a:ext cx="3118104" cy="0"/>
          </a:xfrm>
          <a:prstGeom prst="line">
            <a:avLst/>
          </a:prstGeom>
          <a:noFill/>
          <a:ln w="12700">
            <a:solidFill>
              <a:srgbClr val="D8E2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479145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open water transfers; flooded forest breaks — the physics predicts exactly this split.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1600200"/>
            <a:ext cx="3630168" cy="4206240"/>
          </a:xfrm>
          <a:prstGeom prst="roundRect">
            <a:avLst>
              <a:gd name="adj" fmla="val 2519"/>
            </a:avLst>
          </a:prstGeom>
          <a:solidFill>
            <a:srgbClr val="F1F5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828800"/>
            <a:ext cx="685800" cy="685800"/>
          </a:xfrm>
          <a:prstGeom prst="ellipse">
            <a:avLst/>
          </a:prstGeom>
          <a:solidFill>
            <a:srgbClr val="1E3D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6974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NISAR labels close it?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61188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0 / 10 / 25 / all hand-labeled chips and trace the recovery curve.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4681728"/>
            <a:ext cx="3118104" cy="0"/>
          </a:xfrm>
          <a:prstGeom prst="line">
            <a:avLst/>
          </a:prstGeom>
          <a:noFill/>
          <a:ln w="12700">
            <a:solidFill>
              <a:srgbClr val="D8E2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79145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a small labeled set recovers most of the loss — the practical number every NISAR adopter needs.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91856" y="1600200"/>
            <a:ext cx="3630168" cy="4206240"/>
          </a:xfrm>
          <a:prstGeom prst="roundRect">
            <a:avLst>
              <a:gd name="adj" fmla="val 2519"/>
            </a:avLst>
          </a:prstGeom>
          <a:solidFill>
            <a:srgbClr val="F1F5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47888" y="1828800"/>
            <a:ext cx="685800" cy="685800"/>
          </a:xfrm>
          <a:prstGeom prst="ellipse">
            <a:avLst/>
          </a:prstGeom>
          <a:solidFill>
            <a:srgbClr val="1E3D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47888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26974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the gap — wavelength or polarization?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3611880"/>
            <a:ext cx="3118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swap input-channel mappings (VV/VH → HH/HV) with the architecture held fixed.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47888" y="4681728"/>
            <a:ext cx="3118104" cy="0"/>
          </a:xfrm>
          <a:prstGeom prst="line">
            <a:avLst/>
          </a:prstGeom>
          <a:noFill/>
          <a:ln w="12700">
            <a:solidFill>
              <a:srgbClr val="D8E2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47888" y="4791456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the polarization substitution explains a large share — separable from the band change.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product of the research: three measured numbers the community can cite — the gap, the cost to close it, and its cause.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on Sentinel-1 — break and repair on NISAR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429000" cy="502920"/>
          </a:xfrm>
          <a:prstGeom prst="rect">
            <a:avLst/>
          </a:prstGeom>
          <a:solidFill>
            <a:srgbClr val="3C5F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PRETRAIN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on Sen1Floods11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5292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 hand-labeled Sentinel-1 chips, 11 flood events. Establishes the C-band baseline IoU.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14216" y="3063240"/>
            <a:ext cx="310896" cy="0"/>
          </a:xfrm>
          <a:prstGeom prst="line">
            <a:avLst/>
          </a:prstGeom>
          <a:noFill/>
          <a:ln w="31750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1688" y="164592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1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4361688" y="1645920"/>
            <a:ext cx="3429000" cy="502920"/>
          </a:xfrm>
          <a:prstGeom prst="rect">
            <a:avLst/>
          </a:prstGeom>
          <a:solidFill>
            <a:srgbClr val="9C6F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0288" y="1645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ZERO-SHOT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NISAR, untouched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85292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floodplain scenes. IoU scored separately for open water and flooded forest.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27264" y="3063240"/>
            <a:ext cx="310896" cy="0"/>
          </a:xfrm>
          <a:prstGeom prst="line">
            <a:avLst/>
          </a:prstGeom>
          <a:noFill/>
          <a:ln w="31750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74736" y="164592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1F5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74736" y="1645920"/>
            <a:ext cx="3429000" cy="502920"/>
          </a:xfrm>
          <a:prstGeom prst="rect">
            <a:avLst/>
          </a:prstGeom>
          <a:solidFill>
            <a:srgbClr val="1E3D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03336" y="1645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FINE-TUNE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03336" y="2286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NISAR label sets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03336" y="2852928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10 / 25 / all chips → the recovery curve. How much data buys how much performance.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 </a:t>
            </a:r>
            <a:pPr indent="0" marL="0">
              <a:buNone/>
            </a:pPr>
            <a:r>
              <a:rPr lang="en-US" sz="13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— the standard, interpretable choice; any gap we see comes from the data, not an exotic architecture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 </a:t>
            </a:r>
            <a:pPr indent="0" marL="0">
              <a:buNone/>
            </a:pPr>
            <a:r>
              <a:rPr lang="en-US" sz="13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per class — predicted vs. true water overlap, 0 to 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 </a:t>
            </a:r>
            <a:pPr indent="0" marL="0">
              <a:buNone/>
            </a:pPr>
            <a:r>
              <a:rPr lang="en-US" sz="13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Amazon floodplain — Solimões–Negro confluence: open water, flooded forest, and dry forest in one frame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We've already run it on real NISAR data</a:t>
            </a:r>
            <a:endParaRPr lang="en-US" sz="3300" dirty="0"/>
          </a:p>
        </p:txBody>
      </p:sp>
      <p:pic>
        <p:nvPicPr>
          <p:cNvPr id="4" name="Image 0" descr="nb_imgs/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4892040" cy="41422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60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 GCOV scene 023_068_D_090 (18 Jun 2026), HH backscatter — our own analysis. Rivers dark, forest bright: the separation the whole project rests on, confirmed.</a:t>
            </a:r>
            <a:endParaRPr lang="en-US" sz="1100" dirty="0"/>
          </a:p>
        </p:txBody>
      </p:sp>
      <p:pic>
        <p:nvPicPr>
          <p:cNvPr id="6" name="Image 1" descr="nb_imgs/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72768"/>
            <a:ext cx="5806440" cy="2606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806440" y="41605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Bimodal, as predicted: a water tail near −18 dB, land clustered near −5 dB.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806440" y="4553712"/>
            <a:ext cx="1389888" cy="1371600"/>
          </a:xfrm>
          <a:prstGeom prst="roundRect">
            <a:avLst>
              <a:gd name="adj" fmla="val 5333"/>
            </a:avLst>
          </a:prstGeom>
          <a:solidFill>
            <a:srgbClr val="F1F5EE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879592" y="4663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879592" y="5138928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granules over our AOI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278624" y="4553712"/>
            <a:ext cx="1389888" cy="1371600"/>
          </a:xfrm>
          <a:prstGeom prst="roundRect">
            <a:avLst>
              <a:gd name="adj" fmla="val 5333"/>
            </a:avLst>
          </a:prstGeom>
          <a:solidFill>
            <a:srgbClr val="F1F5E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51776" y="4663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1.93 GB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51776" y="5138928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downloaded &amp; read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750808" y="4553712"/>
            <a:ext cx="1389888" cy="1371600"/>
          </a:xfrm>
          <a:prstGeom prst="roundRect">
            <a:avLst>
              <a:gd name="adj" fmla="val 5333"/>
            </a:avLst>
          </a:prstGeom>
          <a:solidFill>
            <a:srgbClr val="F1F5E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823960" y="4663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9.1%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8823960" y="5138928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at −15 dB threshold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10222992" y="4553712"/>
            <a:ext cx="1389888" cy="1371600"/>
          </a:xfrm>
          <a:prstGeom prst="roundRect">
            <a:avLst>
              <a:gd name="adj" fmla="val 5333"/>
            </a:avLst>
          </a:prstGeom>
          <a:solidFill>
            <a:srgbClr val="F1F5E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296144" y="46634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C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dates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10296144" y="5138928"/>
            <a:ext cx="1243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12-day repeats (Jun–Jul)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5806440" y="6035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→ download → HDF5 read → dual-pol HH/HV → water separability: the entire data pipeline is de-risked.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truth where no camera can see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satellites cannot see under the canopy — so the answer key must come from elsewhere. Three independent sources, ranked: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0352" cy="530352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6" name="Image 0" descr="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233245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488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Hydrology (primary)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44144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river stage at Manaus + canopy-corrected terrain (HAND): everything below the water line is flooded. Never looks at radar — immune to circularity.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93008"/>
            <a:ext cx="530352" cy="530352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0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63090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4472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Expert wetland maps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3739896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dual-season JERS-1 Amazon inundation masks — built by the researchers who defined the problem. Our cross-check.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791456"/>
            <a:ext cx="530352" cy="530352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4" name="Image 2" descr="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4929348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7457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Temporal change (silver only)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5038344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Low-water vs. high-water brightening marks flooded forest — direct, but partly circular, so used for training labels, never for final scoring.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35240" y="1572768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BEFEA"/>
          </a:solidFill>
          <a:ln/>
        </p:spPr>
      </p:sp>
      <p:sp>
        <p:nvSpPr>
          <p:cNvPr id="18" name="Shape 13"/>
          <p:cNvSpPr/>
          <p:nvPr/>
        </p:nvSpPr>
        <p:spPr>
          <a:xfrm>
            <a:off x="7909560" y="1810512"/>
            <a:ext cx="530352" cy="530352"/>
          </a:xfrm>
          <a:prstGeom prst="ellipse">
            <a:avLst/>
          </a:prstGeom>
          <a:solidFill>
            <a:srgbClr val="A63A1E"/>
          </a:solidFill>
          <a:ln/>
        </p:spPr>
      </p:sp>
      <p:pic>
        <p:nvPicPr>
          <p:cNvPr id="19" name="Image 3" descr="icons/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52" y="1948404"/>
            <a:ext cx="254569" cy="25456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95360" y="1883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we designed out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7909560" y="2395728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grade against Sentinel-1. C-band can't see under trees, so its map calls flooded forest “dry.” Score NISAR against it and NISAR is marked wrong for being right — in exactly the regime it should win.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90956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6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maps = comparison baseline only.</a:t>
            </a:r>
            <a:endParaRPr lang="en-US" sz="1150" dirty="0"/>
          </a:p>
        </p:txBody>
      </p:sp>
      <p:pic>
        <p:nvPicPr>
          <p:cNvPr id="23" name="Image 4" descr="nb_imgs/mask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35240" y="4892040"/>
            <a:ext cx="3977640" cy="1371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635240" y="6309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water mask from NISAR (threshold baseline)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C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CHALLENGES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D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now — with the mitigation pre-registered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297680" cy="1042416"/>
          </a:xfrm>
          <a:prstGeom prst="roundRect">
            <a:avLst>
              <a:gd name="adj" fmla="val 7018"/>
            </a:avLst>
          </a:prstGeom>
          <a:solidFill>
            <a:srgbClr val="F5EF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ground truth is irreducibly noisy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19472" y="2093976"/>
            <a:ext cx="274320" cy="0"/>
          </a:xfrm>
          <a:prstGeom prst="line">
            <a:avLst/>
          </a:prstGeom>
          <a:noFill/>
          <a:ln w="25400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85232" y="1572768"/>
            <a:ext cx="6327648" cy="1042416"/>
          </a:xfrm>
          <a:prstGeom prst="roundRect">
            <a:avLst>
              <a:gd name="adj" fmla="val 7018"/>
            </a:avLst>
          </a:prstGeom>
          <a:solidFill>
            <a:srgbClr val="F1F5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513832" y="1645920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vs. silver label split; solid metrics for open water, explicitly uncertainty-flagged treatment for flooded forest. Stated up front, not discovered late.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4297680" cy="1042416"/>
          </a:xfrm>
          <a:prstGeom prst="roundRect">
            <a:avLst>
              <a:gd name="adj" fmla="val 7018"/>
            </a:avLst>
          </a:prstGeom>
          <a:solidFill>
            <a:srgbClr val="F5EF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25496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Dry-season baseline arrives Oct–Nov — deadline collision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19472" y="3255264"/>
            <a:ext cx="274320" cy="0"/>
          </a:xfrm>
          <a:prstGeom prst="line">
            <a:avLst/>
          </a:prstGeom>
          <a:noFill/>
          <a:ln w="25400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85232" y="2734056"/>
            <a:ext cx="6327648" cy="1042416"/>
          </a:xfrm>
          <a:prstGeom prst="roundRect">
            <a:avLst>
              <a:gd name="adj" fmla="val 7018"/>
            </a:avLst>
          </a:prstGeom>
          <a:solidFill>
            <a:srgbClr val="F1F5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13832" y="2807208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fallback ladder: NISAR dry frame → prior-year ALOS-2 → JERS-1 low-water mask → never-flooded uplands in frames we already hold. The headline result depends on none of them.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4297680" cy="1042416"/>
          </a:xfrm>
          <a:prstGeom prst="roundRect">
            <a:avLst>
              <a:gd name="adj" fmla="val 7018"/>
            </a:avLst>
          </a:prstGeom>
          <a:solidFill>
            <a:srgbClr val="F5EF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867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NISAR data is provisional — calibration still maturing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4416552"/>
            <a:ext cx="274320" cy="0"/>
          </a:xfrm>
          <a:prstGeom prst="line">
            <a:avLst/>
          </a:prstGeom>
          <a:noFill/>
          <a:ln w="25400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85232" y="3895344"/>
            <a:ext cx="6327648" cy="1042416"/>
          </a:xfrm>
          <a:prstGeom prst="roundRect">
            <a:avLst>
              <a:gd name="adj" fmla="val 7018"/>
            </a:avLst>
          </a:prstGeom>
          <a:solidFill>
            <a:srgbClr val="F1F5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13832" y="3968496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one product generation; report artifacts. Characterizing early-mission data quality is itself a contribution.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48640" y="5056632"/>
            <a:ext cx="4297680" cy="1042416"/>
          </a:xfrm>
          <a:prstGeom prst="roundRect">
            <a:avLst>
              <a:gd name="adj" fmla="val 7018"/>
            </a:avLst>
          </a:prstGeom>
          <a:solidFill>
            <a:srgbClr val="F5EF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480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mismatch (VV/VH → HH/HV)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19472" y="5577840"/>
            <a:ext cx="274320" cy="0"/>
          </a:xfrm>
          <a:prstGeom prst="line">
            <a:avLst/>
          </a:prstGeom>
          <a:noFill/>
          <a:ln w="25400">
            <a:solidFill>
              <a:srgbClr val="1E3D2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85232" y="5056632"/>
            <a:ext cx="6327648" cy="1042416"/>
          </a:xfrm>
          <a:prstGeom prst="roundRect">
            <a:avLst>
              <a:gd name="adj" fmla="val 7018"/>
            </a:avLst>
          </a:prstGeom>
          <a:solidFill>
            <a:srgbClr val="F1F5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13832" y="5129784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2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bug — promoted to the RQ3 ablation. The confound becomes the experiment.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fallback reads as rigor; the same fallback discovered in week nine reads as a scramble.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07999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59300 · NISAR Flood Mapping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HAND OVER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ready before NISAR's operational 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27493B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057400"/>
            <a:ext cx="548640" cy="548640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6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276148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numbers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336499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IoU, the zero-shot gap by class, and the fine-tuning recovery curve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547872" y="18288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274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749040" y="2057400"/>
            <a:ext cx="548640" cy="548640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1" name="Image 1" descr="icons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686" y="22000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49040" y="276148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that doesn't exist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749040" y="336499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hand-labeled NISAR flood set — released openly for future benchmarking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274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73952" y="2057400"/>
            <a:ext cx="548640" cy="548640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16" name="Image 2" descr="icons/g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98" y="22000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73952" y="276148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working demo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73952" y="336499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and an interactive flood-map tool, built with peer-reviewed pull requests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8997696" y="182880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27493B"/>
          </a:solidFill>
          <a:ln/>
        </p:spPr>
      </p:sp>
      <p:sp>
        <p:nvSpPr>
          <p:cNvPr id="20" name="Shape 15"/>
          <p:cNvSpPr/>
          <p:nvPr/>
        </p:nvSpPr>
        <p:spPr>
          <a:xfrm>
            <a:off x="9198864" y="2057400"/>
            <a:ext cx="548640" cy="548640"/>
          </a:xfrm>
          <a:prstGeom prst="ellipse">
            <a:avLst/>
          </a:prstGeom>
          <a:solidFill>
            <a:srgbClr val="3C5F33"/>
          </a:solidFill>
          <a:ln/>
        </p:spPr>
      </p:sp>
      <p:pic>
        <p:nvPicPr>
          <p:cNvPr id="21" name="Image 3" descr="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0" y="22000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98864" y="2761488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presentations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198864" y="3364992"/>
            <a:ext cx="2203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findings, and honest limitations — pre-registered where it counts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822960" y="4956048"/>
            <a:ext cx="10515600" cy="0"/>
          </a:xfrm>
          <a:prstGeom prst="line">
            <a:avLst/>
          </a:prstGeom>
          <a:noFill/>
          <a:ln w="19050">
            <a:solidFill>
              <a:srgbClr val="3F6B5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" y="48828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120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39496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label pipeline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063240" y="48828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3044952" y="5120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3044952" y="539496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baseline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285232" y="48828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5266944" y="5120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266944" y="539496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+ fine-tune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507224" y="48828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488936" y="5120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7488936" y="539496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demo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729216" y="48828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9710928" y="512064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9710928" y="539496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rehearse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822960" y="6080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we measure is a first measurement.  —  Thank you ·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2026-09-16T15:58:26Z</dcterms:created>
  <dcterms:modified xsi:type="dcterms:W3CDTF">2026-09-16T15:58:27Z</dcterms:modified>
</cp:coreProperties>
</file>